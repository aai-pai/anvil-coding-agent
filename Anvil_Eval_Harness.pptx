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2011680"/>
            <a:ext cx="1051560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600" b="1">
                <a:solidFill>
                  <a:srgbClr val="1F2A44"/>
                </a:solidFill>
                <a:latin typeface="Segoe UI"/>
              </a:rPr>
              <a:t>Anvil Evaluation Harness</a:t>
            </a:r>
          </a:p>
          <a:p>
            <a:r>
              <a:rPr sz="2200">
                <a:solidFill>
                  <a:srgbClr val="6A707E"/>
                </a:solidFill>
                <a:latin typeface="Segoe UI"/>
              </a:rPr>
              <a:t>A reusable Tier-1 benchmark for the Anvil coding agent</a:t>
            </a:r>
          </a:p>
          <a:p>
            <a:pPr>
              <a:spcBef>
                <a:spcPts val="1800"/>
              </a:spcBef>
            </a:pPr>
            <a:r>
              <a:rPr sz="1600" b="1">
                <a:solidFill>
                  <a:srgbClr val="C0542C"/>
                </a:solidFill>
                <a:latin typeface="Segoe UI"/>
              </a:rPr>
              <a:t>Built and validated 2026-07-10  |  first result: 50% -&gt; 100% resolve rate on v0.1.2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1F2A44"/>
                </a:solidFill>
                <a:latin typeface="Segoe UI"/>
              </a:rPr>
              <a:t>Why an eval harness, and what it measures</a:t>
            </a:r>
          </a:p>
          <a:p>
            <a:r>
              <a:rPr sz="1400">
                <a:solidFill>
                  <a:srgbClr val="6A707E"/>
                </a:solidFill>
                <a:latin typeface="Segoe UI"/>
              </a:rPr>
              <a:t>Two goals: (1) drive Anvil development with hard numbers  (2) get leaderboard-ready</a:t>
            </a:r>
          </a:p>
        </p:txBody>
      </p:sp>
      <p:sp>
        <p:nvSpPr>
          <p:cNvPr id="3" name="Rectangle 2"/>
          <p:cNvSpPr/>
          <p:nvPr/>
        </p:nvSpPr>
        <p:spPr>
          <a:xfrm>
            <a:off x="594360" y="1170432"/>
            <a:ext cx="1463040" cy="28575"/>
          </a:xfrm>
          <a:prstGeom prst="rect">
            <a:avLst/>
          </a:prstGeom>
          <a:solidFill>
            <a:srgbClr val="C054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463040"/>
            <a:ext cx="109728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700" b="0">
                <a:solidFill>
                  <a:srgbClr val="333844"/>
                </a:solidFill>
                <a:latin typeface="Segoe UI"/>
              </a:rPr>
              <a:t>Headline metric = the industry leaderboard shape:</a:t>
            </a:r>
          </a:p>
          <a:p>
            <a:pPr lvl="1">
              <a:spcAft>
                <a:spcPts val="400"/>
              </a:spcAft>
            </a:pPr>
            <a:r>
              <a:rPr sz="1500" b="0">
                <a:solidFill>
                  <a:srgbClr val="6A707E"/>
                </a:solidFill>
                <a:latin typeface="Segoe UI"/>
              </a:rPr>
              <a:t>Resolve rate (pass@1) - % of tasks whose generated project passes a HELD-OUT test suite, unattended (yolo), first try - reported with tokens / cost / wall-clock per task</a:t>
            </a:r>
          </a:p>
          <a:p>
            <a:pPr lvl="1">
              <a:spcAft>
                <a:spcPts val="400"/>
              </a:spcAft>
            </a:pPr>
            <a:r>
              <a:rPr sz="1500" b="0">
                <a:solidFill>
                  <a:srgbClr val="6A707E"/>
                </a:solidFill>
                <a:latin typeface="Segoe UI"/>
              </a:rPr>
              <a:t>"Held-out" is load-bearing: tests are written by the benchmark, never shown to Anvil - the qa phase grading its own tests never counts</a:t>
            </a:r>
          </a:p>
          <a:p>
            <a:pPr>
              <a:spcAft>
                <a:spcPts val="800"/>
              </a:spcAft>
            </a:pPr>
            <a:r>
              <a:rPr sz="1700" b="0">
                <a:solidFill>
                  <a:srgbClr val="333844"/>
                </a:solidFill>
                <a:latin typeface="Segoe UI"/>
              </a:rPr>
              <a:t>Secondary metrics mined from each run automatically:</a:t>
            </a:r>
          </a:p>
          <a:p>
            <a:pPr lvl="1">
              <a:spcAft>
                <a:spcPts val="400"/>
              </a:spcAft>
            </a:pPr>
            <a:r>
              <a:rPr sz="1500" b="0">
                <a:solidFill>
                  <a:srgbClr val="6A707E"/>
                </a:solidFill>
                <a:latin typeface="Segoe UI"/>
              </a:rPr>
              <a:t>Pipeline completion rate, per-phase tokens + model routing (events.jsonl), wall-clock per phase</a:t>
            </a:r>
          </a:p>
          <a:p>
            <a:pPr lvl="1">
              <a:spcAft>
                <a:spcPts val="400"/>
              </a:spcAft>
            </a:pPr>
            <a:r>
              <a:rPr sz="1500" b="0">
                <a:solidFill>
                  <a:srgbClr val="6A707E"/>
                </a:solidFill>
                <a:latin typeface="Segoe UI"/>
              </a:rPr>
              <a:t>Artifact validity: OKF frontmatter, lineage fields, docs/index.md   (v0.1.2 #16 verified for free)</a:t>
            </a:r>
          </a:p>
          <a:p>
            <a:pPr lvl="1">
              <a:spcAft>
                <a:spcPts val="400"/>
              </a:spcAft>
            </a:pPr>
            <a:r>
              <a:rPr sz="1500" b="0">
                <a:solidFill>
                  <a:srgbClr val="6A707E"/>
                </a:solidFill>
                <a:latin typeface="Segoe UI"/>
              </a:rPr>
              <a:t>Complexity-tier match, escalations, validation failures, truncations, failure records</a:t>
            </a:r>
          </a:p>
          <a:p>
            <a:pPr>
              <a:spcAft>
                <a:spcPts val="800"/>
              </a:spcAft>
            </a:pPr>
            <a:r>
              <a:rPr sz="1700" b="0">
                <a:solidFill>
                  <a:srgbClr val="333844"/>
                </a:solidFill>
                <a:latin typeface="Segoe UI"/>
              </a:rPr>
              <a:t>Same reporting shape as SWE-bench / Commit0 - the discipline carries to public benchmarks later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1F2A44"/>
                </a:solidFill>
                <a:latin typeface="Segoe UI"/>
              </a:rPr>
              <a:t>How it works - evals/ (stdlib-only, reusable)</a:t>
            </a:r>
          </a:p>
          <a:p>
            <a:r>
              <a:rPr sz="1400">
                <a:solidFill>
                  <a:srgbClr val="6A707E"/>
                </a:solidFill>
                <a:latin typeface="Segoe UI"/>
              </a:rPr>
              <a:t>Talks only to the documented REST surface; every task runs in a fresh isolated workspace</a:t>
            </a:r>
          </a:p>
        </p:txBody>
      </p:sp>
      <p:sp>
        <p:nvSpPr>
          <p:cNvPr id="3" name="Rectangle 2"/>
          <p:cNvSpPr/>
          <p:nvPr/>
        </p:nvSpPr>
        <p:spPr>
          <a:xfrm>
            <a:off x="594360" y="1170432"/>
            <a:ext cx="1463040" cy="28575"/>
          </a:xfrm>
          <a:prstGeom prst="rect">
            <a:avLst/>
          </a:prstGeom>
          <a:solidFill>
            <a:srgbClr val="C054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40080" y="1463040"/>
            <a:ext cx="10972800" cy="2743200"/>
          </a:xfrm>
          <a:prstGeom prst="rect">
            <a:avLst/>
          </a:prstGeom>
          <a:solidFill>
            <a:srgbClr val="F4F1EC"/>
          </a:solidFill>
          <a:ln>
            <a:solidFill>
              <a:srgbClr val="D8D2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28600" tIns="137160"/>
          <a:lstStyle/>
          <a:p>
            <a:pPr algn="ctr"/>
            <a:r>
              <a:rPr sz="1400">
                <a:solidFill>
                  <a:srgbClr val="1F2A44"/>
                </a:solidFill>
                <a:latin typeface="Consolas"/>
              </a:rPr>
              <a:t>evals/suites/smoke/&lt;task&gt;/          the benchmark definition</a:t>
            </a:r>
          </a:p>
          <a:p>
            <a:r>
              <a:rPr sz="1400">
                <a:solidFill>
                  <a:srgbClr val="1F2A44"/>
                </a:solidFill>
                <a:latin typeface="Consolas"/>
              </a:rPr>
              <a:t>    prompt.md                       the request; pins the interface contract</a:t>
            </a:r>
          </a:p>
          <a:p>
            <a:r>
              <a:rPr sz="1400">
                <a:solidFill>
                  <a:srgbClr val="1F2A44"/>
                </a:solidFill>
                <a:latin typeface="Consolas"/>
              </a:rPr>
              <a:t>    anvil-instructions.md           standing instructions (travel with the run)</a:t>
            </a:r>
          </a:p>
          <a:p>
            <a:r>
              <a:rPr sz="1400">
                <a:solidFill>
                  <a:srgbClr val="1F2A44"/>
                </a:solidFill>
                <a:latin typeface="Consolas"/>
              </a:rPr>
              <a:t>    held_out_tests/test_*.py        acceptance tests Anvil never sees</a:t>
            </a:r>
          </a:p>
          <a:p>
            <a:r>
              <a:rPr sz="1400">
                <a:solidFill>
                  <a:srgbClr val="1F2A44"/>
                </a:solidFill>
                <a:latin typeface="Consolas"/>
              </a:rPr>
              <a:t> </a:t>
            </a:r>
          </a:p>
          <a:p>
            <a:r>
              <a:rPr sz="1400">
                <a:solidFill>
                  <a:srgbClr val="1F2A44"/>
                </a:solidFill>
                <a:latin typeface="Consolas"/>
              </a:rPr>
              <a:t>flow:  prompt.md --POST /v1/runs?defer=true (source_path)--&gt; isolated run</a:t>
            </a:r>
          </a:p>
          <a:p>
            <a:r>
              <a:rPr sz="1400">
                <a:solidFill>
                  <a:srgbClr val="1F2A44"/>
                </a:solidFill>
                <a:latin typeface="Consolas"/>
              </a:rPr>
              <a:t>       --/advance per phase--&gt; completed --pytest (held-out)--&gt; resolved?</a:t>
            </a:r>
          </a:p>
          <a:p>
            <a:r>
              <a:rPr sz="1400">
                <a:solidFill>
                  <a:srgbClr val="1F2A44"/>
                </a:solidFill>
                <a:latin typeface="Consolas"/>
              </a:rPr>
              <a:t>       + events.jsonl mining + OKF checks --&gt; results.json / report.md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4434840"/>
            <a:ext cx="109728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500" b="0">
                <a:solidFill>
                  <a:srgbClr val="333844"/>
                </a:solidFill>
                <a:latin typeface="Segoe UI"/>
              </a:rPr>
              <a:t>python evals/run_eval.py run --suite smoke --start-server --mode real --label v0.1.2</a:t>
            </a:r>
          </a:p>
          <a:p>
            <a:pPr lvl="1">
              <a:spcAft>
                <a:spcPts val="400"/>
              </a:spcAft>
            </a:pPr>
            <a:r>
              <a:rPr sz="1300" b="0">
                <a:solidFill>
                  <a:srgbClr val="6A707E"/>
                </a:solidFill>
                <a:latin typeface="Segoe UI"/>
              </a:rPr>
              <a:t>also: --mode offline-llm self-test (no key) | --task &lt;id&gt; subset | --base-url reuse a server</a:t>
            </a:r>
          </a:p>
          <a:p>
            <a:pPr>
              <a:spcAft>
                <a:spcPts val="800"/>
              </a:spcAft>
            </a:pPr>
            <a:r>
              <a:rPr sz="1500" b="0">
                <a:solidFill>
                  <a:srgbClr val="333844"/>
                </a:solidFill>
                <a:latin typeface="Segoe UI"/>
              </a:rPr>
              <a:t>python evals/run_eval.py compare &lt;baseline&gt;/results.json &lt;candidate&gt;/results.json</a:t>
            </a:r>
          </a:p>
          <a:p>
            <a:pPr lvl="1">
              <a:spcAft>
                <a:spcPts val="400"/>
              </a:spcAft>
            </a:pPr>
            <a:r>
              <a:rPr sz="1300" b="0">
                <a:solidFill>
                  <a:srgbClr val="6A707E"/>
                </a:solidFill>
                <a:latin typeface="Segoe UI"/>
              </a:rPr>
              <a:t>per-task IMPROVED / REGRESSED diff -&gt; the release-over-release regression loop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1F2A44"/>
                </a:solidFill>
                <a:latin typeface="Segoe UI"/>
              </a:rPr>
              <a:t>The smoke suite - 6 tasks, contracts pinned in the prompt</a:t>
            </a:r>
          </a:p>
        </p:txBody>
      </p:sp>
      <p:sp>
        <p:nvSpPr>
          <p:cNvPr id="3" name="Rectangle 2"/>
          <p:cNvSpPr/>
          <p:nvPr/>
        </p:nvSpPr>
        <p:spPr>
          <a:xfrm>
            <a:off x="594360" y="1170432"/>
            <a:ext cx="1463040" cy="28575"/>
          </a:xfrm>
          <a:prstGeom prst="rect">
            <a:avLst/>
          </a:prstGeom>
          <a:solidFill>
            <a:srgbClr val="C054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40080" y="1554480"/>
          <a:ext cx="10972800" cy="332841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1737360"/>
                <a:gridCol w="6035040"/>
                <a:gridCol w="1188720"/>
              </a:tblGrid>
              <a:tr h="475488">
                <a:tc>
                  <a:txBody>
                    <a:bodyPr/>
                    <a:lstStyle/>
                    <a:p>
                      <a:r>
                        <a:rPr sz="1300" b="1">
                          <a:latin typeface="Segoe UI"/>
                        </a:rPr>
                        <a:t>Task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 b="1">
                          <a:latin typeface="Segoe UI"/>
                        </a:rPr>
                        <a:t>Complexity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 b="1">
                          <a:latin typeface="Segoe UI"/>
                        </a:rPr>
                        <a:t>Pinned contract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 b="1">
                          <a:latin typeface="Segoe UI"/>
                        </a:rPr>
                        <a:t>Held-out tests</a:t>
                      </a:r>
                    </a:p>
                  </a:txBody>
                  <a:tcPr/>
                </a:tc>
              </a:tr>
              <a:tr h="475488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333844"/>
                          </a:solidFill>
                          <a:latin typeface="Segoe UI"/>
                        </a:rPr>
                        <a:t>celsius-cli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333844"/>
                          </a:solidFill>
                          <a:latin typeface="Segoe UI"/>
                        </a:rPr>
                        <a:t>simple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333844"/>
                          </a:solidFill>
                          <a:latin typeface="Segoe UI"/>
                        </a:rPr>
                        <a:t>src/convert.py - celsius_to_fahrenheit() + CLI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333844"/>
                          </a:solidFill>
                          <a:latin typeface="Segoe UI"/>
                        </a:rPr>
                        <a:t>3</a:t>
                      </a:r>
                    </a:p>
                  </a:txBody>
                  <a:tcPr/>
                </a:tc>
              </a:tr>
              <a:tr h="475488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333844"/>
                          </a:solidFill>
                          <a:latin typeface="Segoe UI"/>
                        </a:rPr>
                        <a:t>usd-cents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333844"/>
                          </a:solidFill>
                          <a:latin typeface="Segoe UI"/>
                        </a:rPr>
                        <a:t>simple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333844"/>
                          </a:solidFill>
                          <a:latin typeface="Segoe UI"/>
                        </a:rPr>
                        <a:t>src/currency.py - usd_to_cents() Decimal half-up, cents_to_usd()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333844"/>
                          </a:solidFill>
                          <a:latin typeface="Segoe UI"/>
                        </a:rPr>
                        <a:t>4</a:t>
                      </a:r>
                    </a:p>
                  </a:txBody>
                  <a:tcPr/>
                </a:tc>
              </a:tr>
              <a:tr h="475488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333844"/>
                          </a:solidFill>
                          <a:latin typeface="Segoe UI"/>
                        </a:rPr>
                        <a:t>slugify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333844"/>
                          </a:solidFill>
                          <a:latin typeface="Segoe UI"/>
                        </a:rPr>
                        <a:t>simple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333844"/>
                          </a:solidFill>
                          <a:latin typeface="Segoe UI"/>
                        </a:rPr>
                        <a:t>src/slugger.py - slugify(text, max_length=None), exact rules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333844"/>
                          </a:solidFill>
                          <a:latin typeface="Segoe UI"/>
                        </a:rPr>
                        <a:t>4</a:t>
                      </a:r>
                    </a:p>
                  </a:txBody>
                  <a:tcPr/>
                </a:tc>
              </a:tr>
              <a:tr h="475488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333844"/>
                          </a:solidFill>
                          <a:latin typeface="Segoe UI"/>
                        </a:rPr>
                        <a:t>password-strength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333844"/>
                          </a:solidFill>
                          <a:latin typeface="Segoe UI"/>
                        </a:rPr>
                        <a:t>simple/standard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333844"/>
                          </a:solidFill>
                          <a:latin typeface="Segoe UI"/>
                        </a:rPr>
                        <a:t>src/password_strength.py - assess() -&gt; {score, issues}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333844"/>
                          </a:solidFill>
                          <a:latin typeface="Segoe UI"/>
                        </a:rPr>
                        <a:t>5</a:t>
                      </a:r>
                    </a:p>
                  </a:txBody>
                  <a:tcPr/>
                </a:tc>
              </a:tr>
              <a:tr h="475488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333844"/>
                          </a:solidFill>
                          <a:latin typeface="Segoe UI"/>
                        </a:rPr>
                        <a:t>todo-cli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333844"/>
                          </a:solidFill>
                          <a:latin typeface="Segoe UI"/>
                        </a:rPr>
                        <a:t>standard/complex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333844"/>
                          </a:solidFill>
                          <a:latin typeface="Segoe UI"/>
                        </a:rPr>
                        <a:t>src/todo.py CLI - TODO_DB_PATH env, pinned JSON schema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333844"/>
                          </a:solidFill>
                          <a:latin typeface="Segoe UI"/>
                        </a:rPr>
                        <a:t>5</a:t>
                      </a:r>
                    </a:p>
                  </a:txBody>
                  <a:tcPr/>
                </a:tc>
              </a:tr>
              <a:tr h="475488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333844"/>
                          </a:solidFill>
                          <a:latin typeface="Segoe UI"/>
                        </a:rPr>
                        <a:t>inventory-lib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333844"/>
                          </a:solidFill>
                          <a:latin typeface="Segoe UI"/>
                        </a:rPr>
                        <a:t>standard/complex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333844"/>
                          </a:solidFill>
                          <a:latin typeface="Segoe UI"/>
                        </a:rPr>
                        <a:t>src/inventory.py - Inventory class, validation, save/load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333844"/>
                          </a:solidFill>
                          <a:latin typeface="Segoe UI"/>
                        </a:rPr>
                        <a:t>7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640080" y="5394960"/>
            <a:ext cx="109728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400" b="0">
                <a:solidFill>
                  <a:srgbClr val="333844"/>
                </a:solidFill>
                <a:latin typeface="Segoe UI"/>
              </a:rPr>
              <a:t>28 held-out tests total. Contract pinning is what makes failures meaningful: the tests bind to exactly what the request stated.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1F2A44"/>
                </a:solidFill>
                <a:latin typeface="Segoe UI"/>
              </a:rPr>
              <a:t>Every held-out test by name</a:t>
            </a:r>
          </a:p>
        </p:txBody>
      </p:sp>
      <p:sp>
        <p:nvSpPr>
          <p:cNvPr id="3" name="Rectangle 2"/>
          <p:cNvSpPr/>
          <p:nvPr/>
        </p:nvSpPr>
        <p:spPr>
          <a:xfrm>
            <a:off x="594360" y="1170432"/>
            <a:ext cx="1463040" cy="28575"/>
          </a:xfrm>
          <a:prstGeom prst="rect">
            <a:avLst/>
          </a:prstGeom>
          <a:solidFill>
            <a:srgbClr val="C054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417320"/>
            <a:ext cx="548640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500" b="1">
                <a:solidFill>
                  <a:srgbClr val="C0542C"/>
                </a:solidFill>
                <a:latin typeface="Segoe UI"/>
              </a:rPr>
              <a:t>celsius-cli</a:t>
            </a:r>
          </a:p>
          <a:p>
            <a:pPr lvl="1">
              <a:spcAft>
                <a:spcPts val="200"/>
              </a:spcAft>
            </a:pPr>
            <a:r>
              <a:rPr sz="1200" b="0">
                <a:solidFill>
                  <a:srgbClr val="6A707E"/>
                </a:solidFill>
                <a:latin typeface="Consolas"/>
              </a:rPr>
              <a:t>test_function_exists_and_converts</a:t>
            </a:r>
          </a:p>
          <a:p>
            <a:pPr lvl="1">
              <a:spcAft>
                <a:spcPts val="200"/>
              </a:spcAft>
            </a:pPr>
            <a:r>
              <a:rPr sz="1200" b="0">
                <a:solidFill>
                  <a:srgbClr val="6A707E"/>
                </a:solidFill>
                <a:latin typeface="Consolas"/>
              </a:rPr>
              <a:t>test_rejects_below_absolute_zero</a:t>
            </a:r>
          </a:p>
          <a:p>
            <a:pPr lvl="1">
              <a:spcAft>
                <a:spcPts val="200"/>
              </a:spcAft>
            </a:pPr>
            <a:r>
              <a:rPr sz="1200" b="0">
                <a:solidFill>
                  <a:srgbClr val="6A707E"/>
                </a:solidFill>
                <a:latin typeface="Consolas"/>
              </a:rPr>
              <a:t>test_cli_prints_fahrenheit</a:t>
            </a:r>
          </a:p>
          <a:p>
            <a:pPr>
              <a:spcAft>
                <a:spcPts val="800"/>
              </a:spcAft>
            </a:pPr>
            <a:r>
              <a:rPr sz="1500" b="1">
                <a:solidFill>
                  <a:srgbClr val="C0542C"/>
                </a:solidFill>
                <a:latin typeface="Segoe UI"/>
              </a:rPr>
              <a:t>usd-cents</a:t>
            </a:r>
          </a:p>
          <a:p>
            <a:pPr lvl="1">
              <a:spcAft>
                <a:spcPts val="200"/>
              </a:spcAft>
            </a:pPr>
            <a:r>
              <a:rPr sz="1200" b="0">
                <a:solidFill>
                  <a:srgbClr val="6A707E"/>
                </a:solidFill>
                <a:latin typeface="Consolas"/>
              </a:rPr>
              <a:t>test_basic_conversion</a:t>
            </a:r>
          </a:p>
          <a:p>
            <a:pPr lvl="1">
              <a:spcAft>
                <a:spcPts val="200"/>
              </a:spcAft>
            </a:pPr>
            <a:r>
              <a:rPr sz="1200" b="0">
                <a:solidFill>
                  <a:srgbClr val="6A707E"/>
                </a:solidFill>
                <a:latin typeface="Consolas"/>
              </a:rPr>
              <a:t>test_half_up_rounding_avoids_float_artifacts</a:t>
            </a:r>
          </a:p>
          <a:p>
            <a:pPr lvl="1">
              <a:spcAft>
                <a:spcPts val="200"/>
              </a:spcAft>
            </a:pPr>
            <a:r>
              <a:rPr sz="1200" b="0">
                <a:solidFill>
                  <a:srgbClr val="6A707E"/>
                </a:solidFill>
                <a:latin typeface="Consolas"/>
              </a:rPr>
              <a:t>test_negative_raises</a:t>
            </a:r>
          </a:p>
          <a:p>
            <a:pPr lvl="1">
              <a:spcAft>
                <a:spcPts val="200"/>
              </a:spcAft>
            </a:pPr>
            <a:r>
              <a:rPr sz="1200" b="0">
                <a:solidFill>
                  <a:srgbClr val="6A707E"/>
                </a:solidFill>
                <a:latin typeface="Consolas"/>
              </a:rPr>
              <a:t>test_cents_to_usd_formatting</a:t>
            </a:r>
          </a:p>
          <a:p>
            <a:pPr>
              <a:spcAft>
                <a:spcPts val="800"/>
              </a:spcAft>
            </a:pPr>
            <a:r>
              <a:rPr sz="1500" b="1">
                <a:solidFill>
                  <a:srgbClr val="C0542C"/>
                </a:solidFill>
                <a:latin typeface="Segoe UI"/>
              </a:rPr>
              <a:t>slugify</a:t>
            </a:r>
          </a:p>
          <a:p>
            <a:pPr lvl="1">
              <a:spcAft>
                <a:spcPts val="200"/>
              </a:spcAft>
            </a:pPr>
            <a:r>
              <a:rPr sz="1200" b="0">
                <a:solidFill>
                  <a:srgbClr val="6A707E"/>
                </a:solidFill>
                <a:latin typeface="Consolas"/>
              </a:rPr>
              <a:t>test_basic_slugs</a:t>
            </a:r>
          </a:p>
          <a:p>
            <a:pPr lvl="1">
              <a:spcAft>
                <a:spcPts val="200"/>
              </a:spcAft>
            </a:pPr>
            <a:r>
              <a:rPr sz="1200" b="0">
                <a:solidFill>
                  <a:srgbClr val="6A707E"/>
                </a:solidFill>
                <a:latin typeface="Consolas"/>
              </a:rPr>
              <a:t>test_collapses_and_strips_hyphens</a:t>
            </a:r>
          </a:p>
          <a:p>
            <a:pPr lvl="1">
              <a:spcAft>
                <a:spcPts val="200"/>
              </a:spcAft>
            </a:pPr>
            <a:r>
              <a:rPr sz="1200" b="0">
                <a:solidFill>
                  <a:srgbClr val="6A707E"/>
                </a:solidFill>
                <a:latin typeface="Consolas"/>
              </a:rPr>
              <a:t>test_empty_results</a:t>
            </a:r>
          </a:p>
          <a:p>
            <a:pPr lvl="1">
              <a:spcAft>
                <a:spcPts val="200"/>
              </a:spcAft>
            </a:pPr>
            <a:r>
              <a:rPr sz="1200" b="0">
                <a:solidFill>
                  <a:srgbClr val="6A707E"/>
                </a:solidFill>
                <a:latin typeface="Consolas"/>
              </a:rPr>
              <a:t>test_max_length_truncation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09360" y="1417320"/>
            <a:ext cx="548640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500" b="1">
                <a:solidFill>
                  <a:srgbClr val="C0542C"/>
                </a:solidFill>
                <a:latin typeface="Segoe UI"/>
              </a:rPr>
              <a:t>password-strength</a:t>
            </a:r>
          </a:p>
          <a:p>
            <a:pPr lvl="1">
              <a:spcAft>
                <a:spcPts val="200"/>
              </a:spcAft>
            </a:pPr>
            <a:r>
              <a:rPr sz="1200" b="0">
                <a:solidFill>
                  <a:srgbClr val="6A707E"/>
                </a:solidFill>
                <a:latin typeface="Consolas"/>
              </a:rPr>
              <a:t>test_all_rules_pass</a:t>
            </a:r>
          </a:p>
          <a:p>
            <a:pPr lvl="1">
              <a:spcAft>
                <a:spcPts val="200"/>
              </a:spcAft>
            </a:pPr>
            <a:r>
              <a:rPr sz="1200" b="0">
                <a:solidFill>
                  <a:srgbClr val="6A707E"/>
                </a:solidFill>
                <a:latin typeface="Consolas"/>
              </a:rPr>
              <a:t>test_no_rules_pass</a:t>
            </a:r>
          </a:p>
          <a:p>
            <a:pPr lvl="1">
              <a:spcAft>
                <a:spcPts val="200"/>
              </a:spcAft>
            </a:pPr>
            <a:r>
              <a:rPr sz="1200" b="0">
                <a:solidFill>
                  <a:srgbClr val="6A707E"/>
                </a:solidFill>
                <a:latin typeface="Consolas"/>
              </a:rPr>
              <a:t>test_partial_scores</a:t>
            </a:r>
          </a:p>
          <a:p>
            <a:pPr lvl="1">
              <a:spcAft>
                <a:spcPts val="200"/>
              </a:spcAft>
            </a:pPr>
            <a:r>
              <a:rPr sz="1200" b="0">
                <a:solidFill>
                  <a:srgbClr val="6A707E"/>
                </a:solidFill>
                <a:latin typeface="Consolas"/>
              </a:rPr>
              <a:t>test_issue_count_matches_failed_rules</a:t>
            </a:r>
          </a:p>
          <a:p>
            <a:pPr lvl="1">
              <a:spcAft>
                <a:spcPts val="200"/>
              </a:spcAft>
            </a:pPr>
            <a:r>
              <a:rPr sz="1200" b="0">
                <a:solidFill>
                  <a:srgbClr val="6A707E"/>
                </a:solidFill>
                <a:latin typeface="Consolas"/>
              </a:rPr>
              <a:t>test_non_string_raises_type_error</a:t>
            </a:r>
          </a:p>
          <a:p>
            <a:pPr>
              <a:spcAft>
                <a:spcPts val="800"/>
              </a:spcAft>
            </a:pPr>
            <a:r>
              <a:rPr sz="1500" b="1">
                <a:solidFill>
                  <a:srgbClr val="C0542C"/>
                </a:solidFill>
                <a:latin typeface="Segoe UI"/>
              </a:rPr>
              <a:t>todo-cli</a:t>
            </a:r>
          </a:p>
          <a:p>
            <a:pPr lvl="1">
              <a:spcAft>
                <a:spcPts val="200"/>
              </a:spcAft>
            </a:pPr>
            <a:r>
              <a:rPr sz="1200" b="0">
                <a:solidFill>
                  <a:srgbClr val="6A707E"/>
                </a:solidFill>
                <a:latin typeface="Consolas"/>
              </a:rPr>
              <a:t>test_add_creates_task_with_pinned_schema</a:t>
            </a:r>
          </a:p>
          <a:p>
            <a:pPr lvl="1">
              <a:spcAft>
                <a:spcPts val="200"/>
              </a:spcAft>
            </a:pPr>
            <a:r>
              <a:rPr sz="1200" b="0">
                <a:solidFill>
                  <a:srgbClr val="6A707E"/>
                </a:solidFill>
                <a:latin typeface="Consolas"/>
              </a:rPr>
              <a:t>test_ids_increment</a:t>
            </a:r>
          </a:p>
          <a:p>
            <a:pPr lvl="1">
              <a:spcAft>
                <a:spcPts val="200"/>
              </a:spcAft>
            </a:pPr>
            <a:r>
              <a:rPr sz="1200" b="0">
                <a:solidFill>
                  <a:srgbClr val="6A707E"/>
                </a:solidFill>
                <a:latin typeface="Consolas"/>
              </a:rPr>
              <a:t>test_list_contains_titles</a:t>
            </a:r>
          </a:p>
          <a:p>
            <a:pPr lvl="1">
              <a:spcAft>
                <a:spcPts val="200"/>
              </a:spcAft>
            </a:pPr>
            <a:r>
              <a:rPr sz="1200" b="0">
                <a:solidFill>
                  <a:srgbClr val="6A707E"/>
                </a:solidFill>
                <a:latin typeface="Consolas"/>
              </a:rPr>
              <a:t>test_done_marks_task</a:t>
            </a:r>
          </a:p>
          <a:p>
            <a:pPr lvl="1">
              <a:spcAft>
                <a:spcPts val="200"/>
              </a:spcAft>
            </a:pPr>
            <a:r>
              <a:rPr sz="1200" b="0">
                <a:solidFill>
                  <a:srgbClr val="6A707E"/>
                </a:solidFill>
                <a:latin typeface="Consolas"/>
              </a:rPr>
              <a:t>test_done_unknown_id_fails</a:t>
            </a:r>
          </a:p>
          <a:p>
            <a:pPr>
              <a:spcAft>
                <a:spcPts val="800"/>
              </a:spcAft>
            </a:pPr>
            <a:r>
              <a:rPr sz="1500" b="1">
                <a:solidFill>
                  <a:srgbClr val="C0542C"/>
                </a:solidFill>
                <a:latin typeface="Segoe UI"/>
              </a:rPr>
              <a:t>inventory-lib</a:t>
            </a:r>
          </a:p>
          <a:p>
            <a:pPr lvl="1">
              <a:spcAft>
                <a:spcPts val="200"/>
              </a:spcAft>
            </a:pPr>
            <a:r>
              <a:rPr sz="1200" b="0">
                <a:solidFill>
                  <a:srgbClr val="6A707E"/>
                </a:solidFill>
                <a:latin typeface="Consolas"/>
              </a:rPr>
              <a:t>test_add_and_query</a:t>
            </a:r>
          </a:p>
          <a:p>
            <a:pPr lvl="1">
              <a:spcAft>
                <a:spcPts val="200"/>
              </a:spcAft>
            </a:pPr>
            <a:r>
              <a:rPr sz="1200" b="0">
                <a:solidFill>
                  <a:srgbClr val="6A707E"/>
                </a:solidFill>
                <a:latin typeface="Consolas"/>
              </a:rPr>
              <a:t>test_add_existing_accumulates_and_updates_price</a:t>
            </a:r>
          </a:p>
          <a:p>
            <a:pPr lvl="1">
              <a:spcAft>
                <a:spcPts val="200"/>
              </a:spcAft>
            </a:pPr>
            <a:r>
              <a:rPr sz="1200" b="0">
                <a:solidFill>
                  <a:srgbClr val="6A707E"/>
                </a:solidFill>
                <a:latin typeface="Consolas"/>
              </a:rPr>
              <a:t>test_add_validation</a:t>
            </a:r>
          </a:p>
          <a:p>
            <a:pPr lvl="1">
              <a:spcAft>
                <a:spcPts val="200"/>
              </a:spcAft>
            </a:pPr>
            <a:r>
              <a:rPr sz="1200" b="0">
                <a:solidFill>
                  <a:srgbClr val="6A707E"/>
                </a:solidFill>
                <a:latin typeface="Consolas"/>
              </a:rPr>
              <a:t>test_remove_and_depletion</a:t>
            </a:r>
          </a:p>
          <a:p>
            <a:pPr lvl="1">
              <a:spcAft>
                <a:spcPts val="200"/>
              </a:spcAft>
            </a:pPr>
            <a:r>
              <a:rPr sz="1200" b="0">
                <a:solidFill>
                  <a:srgbClr val="6A707E"/>
                </a:solidFill>
                <a:latin typeface="Consolas"/>
              </a:rPr>
              <a:t>test_remove_validation</a:t>
            </a:r>
          </a:p>
          <a:p>
            <a:pPr lvl="1">
              <a:spcAft>
                <a:spcPts val="200"/>
              </a:spcAft>
            </a:pPr>
            <a:r>
              <a:rPr sz="1200" b="0">
                <a:solidFill>
                  <a:srgbClr val="6A707E"/>
                </a:solidFill>
                <a:latin typeface="Consolas"/>
              </a:rPr>
              <a:t>test_total_value</a:t>
            </a:r>
          </a:p>
          <a:p>
            <a:pPr lvl="1">
              <a:spcAft>
                <a:spcPts val="200"/>
              </a:spcAft>
            </a:pPr>
            <a:r>
              <a:rPr sz="1200" b="0">
                <a:solidFill>
                  <a:srgbClr val="6A707E"/>
                </a:solidFill>
                <a:latin typeface="Consolas"/>
              </a:rPr>
              <a:t>test_save_load_round_trip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1F2A44"/>
                </a:solidFill>
                <a:latin typeface="Segoe UI"/>
              </a:rPr>
              <a:t>What a held-out test looks like</a:t>
            </a:r>
          </a:p>
          <a:p>
            <a:r>
              <a:rPr sz="1400">
                <a:solidFill>
                  <a:srgbClr val="6A707E"/>
                </a:solidFill>
                <a:latin typeface="Segoe UI"/>
              </a:rPr>
              <a:t>Two channels: import from the generated src/ (sys.path), or drive it as a subprocess via env vars</a:t>
            </a:r>
          </a:p>
        </p:txBody>
      </p:sp>
      <p:sp>
        <p:nvSpPr>
          <p:cNvPr id="3" name="Rectangle 2"/>
          <p:cNvSpPr/>
          <p:nvPr/>
        </p:nvSpPr>
        <p:spPr>
          <a:xfrm>
            <a:off x="594360" y="1170432"/>
            <a:ext cx="1463040" cy="28575"/>
          </a:xfrm>
          <a:prstGeom prst="rect">
            <a:avLst/>
          </a:prstGeom>
          <a:solidFill>
            <a:srgbClr val="C054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40080" y="1554480"/>
            <a:ext cx="10972800" cy="4206240"/>
          </a:xfrm>
          <a:prstGeom prst="rect">
            <a:avLst/>
          </a:prstGeom>
          <a:solidFill>
            <a:srgbClr val="F4F1EC"/>
          </a:solidFill>
          <a:ln>
            <a:solidFill>
              <a:srgbClr val="D8D2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28600" tIns="137160"/>
          <a:lstStyle/>
          <a:p>
            <a:pPr algn="ctr"/>
            <a:r>
              <a:rPr sz="1300">
                <a:solidFill>
                  <a:srgbClr val="1F2A44"/>
                </a:solidFill>
                <a:latin typeface="Consolas"/>
              </a:rPr>
              <a:t># evals/suites/smoke/celsius-cli/held_out_tests/test_convert.py</a:t>
            </a:r>
          </a:p>
          <a:p>
            <a:r>
              <a:rPr sz="1300">
                <a:solidFill>
                  <a:srgbClr val="1F2A44"/>
                </a:solidFill>
                <a:latin typeface="Consolas"/>
              </a:rPr>
              <a:t> </a:t>
            </a:r>
          </a:p>
          <a:p>
            <a:r>
              <a:rPr sz="1300">
                <a:solidFill>
                  <a:srgbClr val="1F2A44"/>
                </a:solidFill>
                <a:latin typeface="Consolas"/>
              </a:rPr>
              <a:t>def test_function_exists_and_converts():</a:t>
            </a:r>
          </a:p>
          <a:p>
            <a:r>
              <a:rPr sz="1300">
                <a:solidFill>
                  <a:srgbClr val="1F2A44"/>
                </a:solidFill>
                <a:latin typeface="Consolas"/>
              </a:rPr>
              <a:t>    import convert                        # generated src/ is on sys.path</a:t>
            </a:r>
          </a:p>
          <a:p>
            <a:r>
              <a:rPr sz="1300">
                <a:solidFill>
                  <a:srgbClr val="1F2A44"/>
                </a:solidFill>
                <a:latin typeface="Consolas"/>
              </a:rPr>
              <a:t>    assert convert.celsius_to_fahrenheit(100) == pytest.approx(212.0)</a:t>
            </a:r>
          </a:p>
          <a:p>
            <a:r>
              <a:rPr sz="1300">
                <a:solidFill>
                  <a:srgbClr val="1F2A44"/>
                </a:solidFill>
                <a:latin typeface="Consolas"/>
              </a:rPr>
              <a:t>    assert convert.celsius_to_fahrenheit(-40) == pytest.approx(-40.0)</a:t>
            </a:r>
          </a:p>
          <a:p>
            <a:r>
              <a:rPr sz="1300">
                <a:solidFill>
                  <a:srgbClr val="1F2A44"/>
                </a:solidFill>
                <a:latin typeface="Consolas"/>
              </a:rPr>
              <a:t> </a:t>
            </a:r>
          </a:p>
          <a:p>
            <a:r>
              <a:rPr sz="1300">
                <a:solidFill>
                  <a:srgbClr val="1F2A44"/>
                </a:solidFill>
                <a:latin typeface="Consolas"/>
              </a:rPr>
              <a:t>def test_rejects_below_absolute_zero():</a:t>
            </a:r>
          </a:p>
          <a:p>
            <a:r>
              <a:rPr sz="1300">
                <a:solidFill>
                  <a:srgbClr val="1F2A44"/>
                </a:solidFill>
                <a:latin typeface="Consolas"/>
              </a:rPr>
              <a:t>    import convert</a:t>
            </a:r>
          </a:p>
          <a:p>
            <a:r>
              <a:rPr sz="1300">
                <a:solidFill>
                  <a:srgbClr val="1F2A44"/>
                </a:solidFill>
                <a:latin typeface="Consolas"/>
              </a:rPr>
              <a:t>    with pytest.raises(ValueError):</a:t>
            </a:r>
          </a:p>
          <a:p>
            <a:r>
              <a:rPr sz="1300">
                <a:solidFill>
                  <a:srgbClr val="1F2A44"/>
                </a:solidFill>
                <a:latin typeface="Consolas"/>
              </a:rPr>
              <a:t>        convert.celsius_to_fahrenheit(-300)</a:t>
            </a:r>
          </a:p>
          <a:p>
            <a:r>
              <a:rPr sz="1300">
                <a:solidFill>
                  <a:srgbClr val="1F2A44"/>
                </a:solidFill>
                <a:latin typeface="Consolas"/>
              </a:rPr>
              <a:t> </a:t>
            </a:r>
          </a:p>
          <a:p>
            <a:r>
              <a:rPr sz="1300">
                <a:solidFill>
                  <a:srgbClr val="1F2A44"/>
                </a:solidFill>
                <a:latin typeface="Consolas"/>
              </a:rPr>
              <a:t>def test_cli_prints_fahrenheit():          # behavior, not internals</a:t>
            </a:r>
          </a:p>
          <a:p>
            <a:r>
              <a:rPr sz="1300">
                <a:solidFill>
                  <a:srgbClr val="1F2A44"/>
                </a:solidFill>
                <a:latin typeface="Consolas"/>
              </a:rPr>
              <a:t>    script = os.path.join(os.environ["ANVIL_GENERATED_SRC"], "convert.py")</a:t>
            </a:r>
          </a:p>
          <a:p>
            <a:r>
              <a:rPr sz="1300">
                <a:solidFill>
                  <a:srgbClr val="1F2A44"/>
                </a:solidFill>
                <a:latin typeface="Consolas"/>
              </a:rPr>
              <a:t>    proc = subprocess.run([sys.executable, script, "100"], capture_output=True, text=True)</a:t>
            </a:r>
          </a:p>
          <a:p>
            <a:r>
              <a:rPr sz="1300">
                <a:solidFill>
                  <a:srgbClr val="1F2A44"/>
                </a:solidFill>
                <a:latin typeface="Consolas"/>
              </a:rPr>
              <a:t>    assert proc.returncode == 0</a:t>
            </a:r>
          </a:p>
          <a:p>
            <a:r>
              <a:rPr sz="1300">
                <a:solidFill>
                  <a:srgbClr val="1F2A44"/>
                </a:solidFill>
                <a:latin typeface="Consolas"/>
              </a:rPr>
              <a:t>    assert float(proc.stdout.strip()) == pytest.approx(212.0)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5897880"/>
            <a:ext cx="109728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400" b="0">
                <a:solidFill>
                  <a:srgbClr val="333844"/>
                </a:solidFill>
                <a:latin typeface="Segoe UI"/>
              </a:rPr>
              <a:t>Resolved = run reached 'completed' AND all of the task's held-out tests pass. No partial credit.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1F2A44"/>
                </a:solidFill>
                <a:latin typeface="Segoe UI"/>
              </a:rPr>
              <a:t>First real run on v0.1.2: 50% resolve rate (3/6)</a:t>
            </a:r>
          </a:p>
          <a:p>
            <a:r>
              <a:rPr sz="1400">
                <a:solidFill>
                  <a:srgbClr val="6A707E"/>
                </a:solidFill>
                <a:latin typeface="Segoe UI"/>
              </a:rPr>
              <a:t>All 6 pipelines completed - every failure was a quality defect, not a crash</a:t>
            </a:r>
          </a:p>
        </p:txBody>
      </p:sp>
      <p:sp>
        <p:nvSpPr>
          <p:cNvPr id="3" name="Rectangle 2"/>
          <p:cNvSpPr/>
          <p:nvPr/>
        </p:nvSpPr>
        <p:spPr>
          <a:xfrm>
            <a:off x="594360" y="1170432"/>
            <a:ext cx="1463040" cy="28575"/>
          </a:xfrm>
          <a:prstGeom prst="rect">
            <a:avLst/>
          </a:prstGeom>
          <a:solidFill>
            <a:srgbClr val="C054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40080" y="1554480"/>
          <a:ext cx="10972800" cy="3200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03120"/>
                <a:gridCol w="1280160"/>
                <a:gridCol w="914400"/>
                <a:gridCol w="6675120"/>
              </a:tblGrid>
              <a:tr h="457200">
                <a:tc>
                  <a:txBody>
                    <a:bodyPr/>
                    <a:lstStyle/>
                    <a:p>
                      <a:r>
                        <a:rPr sz="1300" b="1">
                          <a:latin typeface="Segoe UI"/>
                        </a:rPr>
                        <a:t>Task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 b="1">
                          <a:latin typeface="Segoe UI"/>
                        </a:rPr>
                        <a:t>Result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 b="1">
                          <a:latin typeface="Segoe UI"/>
                        </a:rPr>
                        <a:t>Tests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 b="1">
                          <a:latin typeface="Segoe UI"/>
                        </a:rPr>
                        <a:t>What happened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333844"/>
                          </a:solidFill>
                          <a:latin typeface="Segoe UI"/>
                        </a:rPr>
                        <a:t>celsius-cli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1E7A3C"/>
                          </a:solidFill>
                          <a:latin typeface="Segoe UI"/>
                        </a:rPr>
                        <a:t>RESOLVED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333844"/>
                          </a:solidFill>
                          <a:latin typeface="Segoe UI"/>
                        </a:rPr>
                        <a:t>3/3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333844"/>
                          </a:solidFill>
                          <a:latin typeface="Segoe UI"/>
                        </a:rPr>
                        <a:t>correct code, correct interface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333844"/>
                          </a:solidFill>
                          <a:latin typeface="Segoe UI"/>
                        </a:rPr>
                        <a:t>slugify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1E7A3C"/>
                          </a:solidFill>
                          <a:latin typeface="Segoe UI"/>
                        </a:rPr>
                        <a:t>RESOLVED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333844"/>
                          </a:solidFill>
                          <a:latin typeface="Segoe UI"/>
                        </a:rPr>
                        <a:t>4/4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333844"/>
                          </a:solidFill>
                          <a:latin typeface="Segoe UI"/>
                        </a:rPr>
                        <a:t>correct code, correct interface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333844"/>
                          </a:solidFill>
                          <a:latin typeface="Segoe UI"/>
                        </a:rPr>
                        <a:t>usd-cents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1E7A3C"/>
                          </a:solidFill>
                          <a:latin typeface="Segoe UI"/>
                        </a:rPr>
                        <a:t>RESOLVED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333844"/>
                          </a:solidFill>
                          <a:latin typeface="Segoe UI"/>
                        </a:rPr>
                        <a:t>4/4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333844"/>
                          </a:solidFill>
                          <a:latin typeface="Segoe UI"/>
                        </a:rPr>
                        <a:t>Decimal + ROUND_HALF_UP exactly as pinned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333844"/>
                          </a:solidFill>
                          <a:latin typeface="Segoe UI"/>
                        </a:rPr>
                        <a:t>inventory-lib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B42318"/>
                          </a:solidFill>
                          <a:latin typeface="Segoe UI"/>
                        </a:rPr>
                        <a:t>failed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333844"/>
                          </a:solidFill>
                          <a:latin typeface="Segoe UI"/>
                        </a:rPr>
                        <a:t>0/7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333844"/>
                          </a:solidFill>
                          <a:latin typeface="Segoe UI"/>
                        </a:rPr>
                        <a:t>built src/inventory_lib/ package - pinned src/inventory.py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333844"/>
                          </a:solidFill>
                          <a:latin typeface="Segoe UI"/>
                        </a:rPr>
                        <a:t>todo-cli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B42318"/>
                          </a:solidFill>
                          <a:latin typeface="Segoe UI"/>
                        </a:rPr>
                        <a:t>failed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333844"/>
                          </a:solidFill>
                          <a:latin typeface="Segoe UI"/>
                        </a:rPr>
                        <a:t>1/5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333844"/>
                          </a:solidFill>
                          <a:latin typeface="Segoe UI"/>
                        </a:rPr>
                        <a:t>built main.py/manager.py/storage.py - pinned src/todo.py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333844"/>
                          </a:solidFill>
                          <a:latin typeface="Segoe UI"/>
                        </a:rPr>
                        <a:t>password-strength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B42318"/>
                          </a:solidFill>
                          <a:latin typeface="Segoe UI"/>
                        </a:rPr>
                        <a:t>failed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333844"/>
                          </a:solidFill>
                          <a:latin typeface="Segoe UI"/>
                        </a:rPr>
                        <a:t>1/5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333844"/>
                          </a:solidFill>
                          <a:latin typeface="Segoe UI"/>
                        </a:rPr>
                        <a:t>assess() returned bool - pinned dict {score, issues}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640080" y="5120640"/>
            <a:ext cx="109728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500" b="0">
                <a:solidFill>
                  <a:srgbClr val="333844"/>
                </a:solidFill>
                <a:latin typeface="Segoe UI"/>
              </a:rPr>
              <a:t>The pattern: Anvil never failed at coding. All 3 failures lost the INTERFACE CONTRACT on the way to the implementation phase.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1F2A44"/>
                </a:solidFill>
                <a:latin typeface="Segoe UI"/>
              </a:rPr>
              <a:t>Root cause: contract drift through the doc pipeline</a:t>
            </a:r>
          </a:p>
          <a:p>
            <a:r>
              <a:rPr sz="1400">
                <a:solidFill>
                  <a:srgbClr val="6A707E"/>
                </a:solidFill>
                <a:latin typeface="Segoe UI"/>
              </a:rPr>
              <a:t>password-strength, traced through the run's own artifacts</a:t>
            </a:r>
          </a:p>
        </p:txBody>
      </p:sp>
      <p:sp>
        <p:nvSpPr>
          <p:cNvPr id="3" name="Rectangle 2"/>
          <p:cNvSpPr/>
          <p:nvPr/>
        </p:nvSpPr>
        <p:spPr>
          <a:xfrm>
            <a:off x="594360" y="1170432"/>
            <a:ext cx="1463040" cy="28575"/>
          </a:xfrm>
          <a:prstGeom prst="rect">
            <a:avLst/>
          </a:prstGeom>
          <a:solidFill>
            <a:srgbClr val="C054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40080" y="1554480"/>
          <a:ext cx="10972800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315200"/>
                <a:gridCol w="3657600"/>
              </a:tblGrid>
              <a:tr h="457200">
                <a:tc>
                  <a:txBody>
                    <a:bodyPr/>
                    <a:lstStyle/>
                    <a:p>
                      <a:r>
                        <a:rPr sz="1400" b="1">
                          <a:latin typeface="Segoe UI"/>
                        </a:rPr>
                        <a:t>Document in the run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 b="1">
                          <a:latin typeface="Segoe UI"/>
                        </a:rPr>
                        <a:t>Mentions of the pinned key "issues"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333844"/>
                          </a:solidFill>
                          <a:latin typeface="Segoe UI"/>
                        </a:rPr>
                        <a:t>domain-knowledge/background-information.md  (the request, verbatim)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1E7A3C"/>
                          </a:solidFill>
                          <a:latin typeface="Segoe UI"/>
                        </a:rPr>
                        <a:t>2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333844"/>
                          </a:solidFill>
                          <a:latin typeface="Segoe UI"/>
                        </a:rPr>
                        <a:t>docs/spec.md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B42318"/>
                          </a:solidFill>
                          <a:latin typeface="Segoe UI"/>
                        </a:rPr>
                        <a:t>0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333844"/>
                          </a:solidFill>
                          <a:latin typeface="Segoe UI"/>
                        </a:rPr>
                        <a:t>docs/blueprint.md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B42318"/>
                          </a:solidFill>
                          <a:latin typeface="Segoe UI"/>
                        </a:rPr>
                        <a:t>0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333844"/>
                          </a:solidFill>
                          <a:latin typeface="Segoe UI"/>
                        </a:rPr>
                        <a:t>docs/plan.md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B42318"/>
                          </a:solidFill>
                          <a:latin typeface="Segoe UI"/>
                        </a:rPr>
                        <a:t>0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333844"/>
                          </a:solidFill>
                          <a:latin typeface="Segoe UI"/>
                        </a:rPr>
                        <a:t>src/password_strength.py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B42318"/>
                          </a:solidFill>
                          <a:latin typeface="Segoe UI"/>
                        </a:rPr>
                        <a:t>def assess(password: str) -&gt; bool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640080" y="4206240"/>
            <a:ext cx="109728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500" b="0">
                <a:solidFill>
                  <a:srgbClr val="333844"/>
                </a:solidFill>
                <a:latin typeface="Segoe UI"/>
              </a:rPr>
              <a:t>No truncation (0 InputTruncated events) - the spec phase PARAPHRASED the request and dropped the return-type contract; every later phase faithfully implemented the degraded spec.</a:t>
            </a:r>
          </a:p>
          <a:p>
            <a:pPr>
              <a:spcAft>
                <a:spcPts val="800"/>
              </a:spcAft>
            </a:pPr>
            <a:r>
              <a:rPr sz="1500" b="0">
                <a:solidFill>
                  <a:srgbClr val="333844"/>
                </a:solidFill>
                <a:latin typeface="Segoe UI"/>
              </a:rPr>
              <a:t>Each waterfall phase re-summarizes the previous one -&gt; exact names / signatures / shapes get lossy-compressed away.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1F2A44"/>
                </a:solidFill>
                <a:latin typeface="Segoe UI"/>
              </a:rPr>
              <a:t>The fix: standing instructions (v0.1.2 #14, zero code changes)</a:t>
            </a:r>
          </a:p>
          <a:p>
            <a:r>
              <a:rPr sz="1400">
                <a:solidFill>
                  <a:srgbClr val="6A707E"/>
                </a:solidFill>
                <a:latin typeface="Segoe UI"/>
              </a:rPr>
              <a:t>anvil-instructions.md placed next to each prompt.md - the runtime copies it into the run (FR-INS-005) and injects it into EVERY phase prompt, untruncated</a:t>
            </a:r>
          </a:p>
        </p:txBody>
      </p:sp>
      <p:sp>
        <p:nvSpPr>
          <p:cNvPr id="3" name="Rectangle 2"/>
          <p:cNvSpPr/>
          <p:nvPr/>
        </p:nvSpPr>
        <p:spPr>
          <a:xfrm>
            <a:off x="594360" y="1170432"/>
            <a:ext cx="1463040" cy="28575"/>
          </a:xfrm>
          <a:prstGeom prst="rect">
            <a:avLst/>
          </a:prstGeom>
          <a:solidFill>
            <a:srgbClr val="C054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40080" y="1554480"/>
            <a:ext cx="10972800" cy="3108960"/>
          </a:xfrm>
          <a:prstGeom prst="rect">
            <a:avLst/>
          </a:prstGeom>
          <a:solidFill>
            <a:srgbClr val="F4F1EC"/>
          </a:solidFill>
          <a:ln>
            <a:solidFill>
              <a:srgbClr val="D8D2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28600" tIns="137160"/>
          <a:lstStyle/>
          <a:p>
            <a:pPr algn="ctr"/>
            <a:r>
              <a:rPr sz="1400">
                <a:solidFill>
                  <a:srgbClr val="1F2A44"/>
                </a:solidFill>
                <a:latin typeface="Consolas"/>
              </a:rPr>
              <a:t># anvil-instructions.md (excerpt)</a:t>
            </a:r>
          </a:p>
          <a:p>
            <a:r>
              <a:rPr sz="1400">
                <a:solidFill>
                  <a:srgbClr val="1F2A44"/>
                </a:solidFill>
                <a:latin typeface="Consolas"/>
              </a:rPr>
              <a:t> </a:t>
            </a:r>
          </a:p>
          <a:p>
            <a:r>
              <a:rPr sz="1400">
                <a:solidFill>
                  <a:srgbClr val="1F2A44"/>
                </a:solidFill>
                <a:latin typeface="Consolas"/>
              </a:rPr>
              <a:t>When the request pins an interface contract - file paths, function/class names,</a:t>
            </a:r>
          </a:p>
          <a:p>
            <a:r>
              <a:rPr sz="1400">
                <a:solidFill>
                  <a:srgbClr val="1F2A44"/>
                </a:solidFill>
                <a:latin typeface="Consolas"/>
              </a:rPr>
              <a:t>signatures, return types or shapes, CLI commands, storage formats, env vars -</a:t>
            </a:r>
          </a:p>
          <a:p>
            <a:r>
              <a:rPr sz="1400">
                <a:solidFill>
                  <a:srgbClr val="1F2A44"/>
                </a:solidFill>
                <a:latin typeface="Consolas"/>
              </a:rPr>
              <a:t>reproduce it EXACTLY. Never rename, relocate, restructure, or "improve" it.</a:t>
            </a:r>
          </a:p>
          <a:p>
            <a:r>
              <a:rPr sz="1400">
                <a:solidFill>
                  <a:srgbClr val="1F2A44"/>
                </a:solidFill>
                <a:latin typeface="Consolas"/>
              </a:rPr>
              <a:t> </a:t>
            </a:r>
          </a:p>
          <a:p>
            <a:r>
              <a:rPr sz="1400">
                <a:solidFill>
                  <a:srgbClr val="1F2A44"/>
                </a:solidFill>
                <a:latin typeface="Consolas"/>
              </a:rPr>
              <a:t>- A pinned path like src/convert.py means exactly that single top-level file.</a:t>
            </a:r>
          </a:p>
          <a:p>
            <a:r>
              <a:rPr sz="1400">
                <a:solidFill>
                  <a:srgbClr val="1F2A44"/>
                </a:solidFill>
                <a:latin typeface="Consolas"/>
              </a:rPr>
              <a:t>- Every derived document (proposal, spec, blueprint, plan) must quote the</a:t>
            </a:r>
          </a:p>
          <a:p>
            <a:r>
              <a:rPr sz="1400">
                <a:solidFill>
                  <a:srgbClr val="1F2A44"/>
                </a:solidFill>
                <a:latin typeface="Consolas"/>
              </a:rPr>
              <a:t>  request's interface contract VERBATIM - never summarize or paraphrase it.</a:t>
            </a:r>
          </a:p>
          <a:p>
            <a:r>
              <a:rPr sz="1400">
                <a:solidFill>
                  <a:srgbClr val="1F2A44"/>
                </a:solidFill>
                <a:latin typeface="Consolas"/>
              </a:rPr>
              <a:t>- A correct implementation under a different name is a failure, not a success.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4983480"/>
            <a:ext cx="109728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500" b="0">
                <a:solidFill>
                  <a:srgbClr val="333844"/>
                </a:solidFill>
                <a:latin typeface="Segoe UI"/>
              </a:rPr>
              <a:t>Verified in the audit trail: InstructionsResolved path went from null -&gt; the run's copy, truncated: false</a:t>
            </a:r>
          </a:p>
          <a:p>
            <a:pPr>
              <a:spcAft>
                <a:spcPts val="800"/>
              </a:spcAft>
            </a:pPr>
            <a:r>
              <a:rPr sz="1500" b="0">
                <a:solidFill>
                  <a:srgbClr val="333844"/>
                </a:solidFill>
                <a:latin typeface="Segoe UI"/>
              </a:rPr>
              <a:t>This is also the first measured use of the v0.1.2 standing-instructions feature - the eval harness validated the feature and fixed the defect in one move.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1F2A44"/>
                </a:solidFill>
                <a:latin typeface="Segoe UI"/>
              </a:rPr>
              <a:t>Result: 50% -&gt; 100% resolve rate (+50 pts)</a:t>
            </a:r>
          </a:p>
          <a:p>
            <a:r>
              <a:rPr sz="1400">
                <a:solidFill>
                  <a:srgbClr val="6A707E"/>
                </a:solidFill>
                <a:latin typeface="Segoe UI"/>
              </a:rPr>
              <a:t>evals compare, baseline v0.1.2 vs v0.1.2-instructions - same suite, same models, same day</a:t>
            </a:r>
          </a:p>
        </p:txBody>
      </p:sp>
      <p:sp>
        <p:nvSpPr>
          <p:cNvPr id="3" name="Rectangle 2"/>
          <p:cNvSpPr/>
          <p:nvPr/>
        </p:nvSpPr>
        <p:spPr>
          <a:xfrm>
            <a:off x="594360" y="1170432"/>
            <a:ext cx="1463040" cy="28575"/>
          </a:xfrm>
          <a:prstGeom prst="rect">
            <a:avLst/>
          </a:prstGeom>
          <a:solidFill>
            <a:srgbClr val="C054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40080" y="1554480"/>
          <a:ext cx="10972800" cy="307238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77440"/>
                <a:gridCol w="2926080"/>
                <a:gridCol w="3474720"/>
                <a:gridCol w="2194560"/>
              </a:tblGrid>
              <a:tr h="438912">
                <a:tc>
                  <a:txBody>
                    <a:bodyPr/>
                    <a:lstStyle/>
                    <a:p>
                      <a:r>
                        <a:rPr sz="1300" b="1">
                          <a:latin typeface="Segoe UI"/>
                        </a:rPr>
                        <a:t>Task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 b="1">
                          <a:latin typeface="Segoe UI"/>
                        </a:rPr>
                        <a:t>v0.1.2 baseline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 b="1">
                          <a:latin typeface="Segoe UI"/>
                        </a:rPr>
                        <a:t>v0.1.2 + instructions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 b="1">
                          <a:latin typeface="Segoe UI"/>
                        </a:rPr>
                        <a:t>Delta</a:t>
                      </a:r>
                    </a:p>
                  </a:txBody>
                  <a:tcPr/>
                </a:tc>
              </a:tr>
              <a:tr h="438912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333844"/>
                          </a:solidFill>
                          <a:latin typeface="Segoe UI"/>
                        </a:rPr>
                        <a:t>celsius-cli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333844"/>
                          </a:solidFill>
                          <a:latin typeface="Segoe UI"/>
                        </a:rPr>
                        <a:t>resolved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333844"/>
                          </a:solidFill>
                          <a:latin typeface="Segoe UI"/>
                        </a:rPr>
                        <a:t>resolved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333844"/>
                          </a:solidFill>
                          <a:latin typeface="Segoe UI"/>
                        </a:rPr>
                        <a:t>=</a:t>
                      </a:r>
                    </a:p>
                  </a:txBody>
                  <a:tcPr/>
                </a:tc>
              </a:tr>
              <a:tr h="438912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333844"/>
                          </a:solidFill>
                          <a:latin typeface="Segoe UI"/>
                        </a:rPr>
                        <a:t>slugify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333844"/>
                          </a:solidFill>
                          <a:latin typeface="Segoe UI"/>
                        </a:rPr>
                        <a:t>resolved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333844"/>
                          </a:solidFill>
                          <a:latin typeface="Segoe UI"/>
                        </a:rPr>
                        <a:t>resolved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333844"/>
                          </a:solidFill>
                          <a:latin typeface="Segoe UI"/>
                        </a:rPr>
                        <a:t>=</a:t>
                      </a:r>
                    </a:p>
                  </a:txBody>
                  <a:tcPr/>
                </a:tc>
              </a:tr>
              <a:tr h="438912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333844"/>
                          </a:solidFill>
                          <a:latin typeface="Segoe UI"/>
                        </a:rPr>
                        <a:t>usd-cents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333844"/>
                          </a:solidFill>
                          <a:latin typeface="Segoe UI"/>
                        </a:rPr>
                        <a:t>resolved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333844"/>
                          </a:solidFill>
                          <a:latin typeface="Segoe UI"/>
                        </a:rPr>
                        <a:t>resolved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333844"/>
                          </a:solidFill>
                          <a:latin typeface="Segoe UI"/>
                        </a:rPr>
                        <a:t>=</a:t>
                      </a:r>
                    </a:p>
                  </a:txBody>
                  <a:tcPr/>
                </a:tc>
              </a:tr>
              <a:tr h="438912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333844"/>
                          </a:solidFill>
                          <a:latin typeface="Segoe UI"/>
                        </a:rPr>
                        <a:t>inventory-lib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B42318"/>
                          </a:solidFill>
                          <a:latin typeface="Segoe UI"/>
                        </a:rPr>
                        <a:t>failed 0/7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1E7A3C"/>
                          </a:solidFill>
                          <a:latin typeface="Segoe UI"/>
                        </a:rPr>
                        <a:t>resolved 7/7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1E7A3C"/>
                          </a:solidFill>
                          <a:latin typeface="Segoe UI"/>
                        </a:rPr>
                        <a:t>IMPROVED</a:t>
                      </a:r>
                    </a:p>
                  </a:txBody>
                  <a:tcPr/>
                </a:tc>
              </a:tr>
              <a:tr h="438912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333844"/>
                          </a:solidFill>
                          <a:latin typeface="Segoe UI"/>
                        </a:rPr>
                        <a:t>password-strength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B42318"/>
                          </a:solidFill>
                          <a:latin typeface="Segoe UI"/>
                        </a:rPr>
                        <a:t>failed 1/5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1E7A3C"/>
                          </a:solidFill>
                          <a:latin typeface="Segoe UI"/>
                        </a:rPr>
                        <a:t>resolved 5/5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1E7A3C"/>
                          </a:solidFill>
                          <a:latin typeface="Segoe UI"/>
                        </a:rPr>
                        <a:t>IMPROVED</a:t>
                      </a:r>
                    </a:p>
                  </a:txBody>
                  <a:tcPr/>
                </a:tc>
              </a:tr>
              <a:tr h="438912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333844"/>
                          </a:solidFill>
                          <a:latin typeface="Segoe UI"/>
                        </a:rPr>
                        <a:t>todo-cli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B42318"/>
                          </a:solidFill>
                          <a:latin typeface="Segoe UI"/>
                        </a:rPr>
                        <a:t>failed 1/5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1E7A3C"/>
                          </a:solidFill>
                          <a:latin typeface="Segoe UI"/>
                        </a:rPr>
                        <a:t>resolved 5/5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1E7A3C"/>
                          </a:solidFill>
                          <a:latin typeface="Segoe UI"/>
                        </a:rPr>
                        <a:t>IMPROVED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640080" y="4709160"/>
            <a:ext cx="109728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500" b="0">
                <a:solidFill>
                  <a:srgbClr val="333844"/>
                </a:solidFill>
                <a:latin typeface="Segoe UI"/>
              </a:rPr>
              <a:t>Drift is gone at the source: spec.md now carries the contract ("issues" x4) and the generated code is assess() -&gt; dict.</a:t>
            </a:r>
          </a:p>
          <a:p>
            <a:pPr>
              <a:spcAft>
                <a:spcPts val="800"/>
              </a:spcAft>
            </a:pPr>
            <a:r>
              <a:rPr sz="1500" b="0">
                <a:solidFill>
                  <a:srgbClr val="333844"/>
                </a:solidFill>
                <a:latin typeface="Segoe UI"/>
              </a:rPr>
              <a:t>Cost of the fix: ~2.3k extra tokens/task (14.8k -&gt; 17.1k avg). Complexity match still 67% -&gt; candidate v0.1.3 work.</a:t>
            </a:r>
          </a:p>
          <a:p>
            <a:pPr>
              <a:spcAft>
                <a:spcPts val="800"/>
              </a:spcAft>
            </a:pPr>
            <a:r>
              <a:rPr sz="1500" b="0">
                <a:solidFill>
                  <a:srgbClr val="333844"/>
                </a:solidFill>
                <a:latin typeface="Segoe UI"/>
              </a:rPr>
              <a:t>28/28 held-out tests pass. This number is now the regression baseline for every future release.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1F2A44"/>
                </a:solidFill>
                <a:latin typeface="Segoe UI"/>
              </a:rPr>
              <a:t>Future work (1): Commit0 - first public benchmark</a:t>
            </a:r>
          </a:p>
          <a:p>
            <a:r>
              <a:rPr sz="1400">
                <a:solidFill>
                  <a:srgbClr val="6A707E"/>
                </a:solidFill>
                <a:latin typeface="Segoe UI"/>
              </a:rPr>
              <a:t>Greenfield library generation from spec - the closest public match to what Anvil already does</a:t>
            </a:r>
          </a:p>
        </p:txBody>
      </p:sp>
      <p:sp>
        <p:nvSpPr>
          <p:cNvPr id="3" name="Rectangle 2"/>
          <p:cNvSpPr/>
          <p:nvPr/>
        </p:nvSpPr>
        <p:spPr>
          <a:xfrm>
            <a:off x="594360" y="1170432"/>
            <a:ext cx="1463040" cy="28575"/>
          </a:xfrm>
          <a:prstGeom prst="rect">
            <a:avLst/>
          </a:prstGeom>
          <a:solidFill>
            <a:srgbClr val="C054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463040"/>
            <a:ext cx="109728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600" b="0">
                <a:solidFill>
                  <a:srgbClr val="333844"/>
                </a:solidFill>
                <a:latin typeface="Segoe UI"/>
              </a:rPr>
              <a:t>What it is: generate a Python library from scratch against a written spec; graded by the benchmark's own hidden unit tests - exactly our held-out pattern at public scale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333844"/>
                </a:solidFill>
                <a:latin typeface="Segoe UI"/>
              </a:rPr>
              <a:t>Why it fits Anvil today: no brownfield capability needed - spec in, project out is Anvil's native flow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333844"/>
                </a:solidFill>
                <a:latin typeface="Segoe UI"/>
              </a:rPr>
              <a:t>What it takes (thin adapter, no core changes):</a:t>
            </a:r>
          </a:p>
          <a:p>
            <a:pPr lvl="1">
              <a:spcAft>
                <a:spcPts val="400"/>
              </a:spcAft>
            </a:pPr>
            <a:r>
              <a:rPr sz="1400" b="0">
                <a:solidFill>
                  <a:srgbClr val="6A707E"/>
                </a:solidFill>
                <a:latin typeface="Segoe UI"/>
              </a:rPr>
              <a:t>Generate background-information.md mechanically from each Commit0 task spec (the source_path flow)</a:t>
            </a:r>
          </a:p>
          <a:p>
            <a:pPr lvl="1">
              <a:spcAft>
                <a:spcPts val="400"/>
              </a:spcAft>
            </a:pPr>
            <a:r>
              <a:rPr sz="1400" b="0">
                <a:solidFill>
                  <a:srgbClr val="6A707E"/>
                </a:solidFill>
                <a:latin typeface="Segoe UI"/>
              </a:rPr>
              <a:t>Map Anvil's generated src/ into Commit0's expected package layout + run its evaluator</a:t>
            </a:r>
          </a:p>
          <a:p>
            <a:pPr lvl="1">
              <a:spcAft>
                <a:spcPts val="400"/>
              </a:spcAft>
            </a:pPr>
            <a:r>
              <a:rPr sz="1400" b="0">
                <a:solidFill>
                  <a:srgbClr val="6A707E"/>
                </a:solidFill>
                <a:latin typeface="Segoe UI"/>
              </a:rPr>
              <a:t>Reuse the harness's runner/report - same resolve-rate + cost shape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333844"/>
                </a:solidFill>
                <a:latin typeface="Segoe UI"/>
              </a:rPr>
              <a:t>Also on the greenfield ladder: DevBench (grades design docs too - rewards the phase pipeline), WebGen-Bench (NL -&gt; working website)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333844"/>
                </a:solidFill>
                <a:latin typeface="Segoe UI"/>
              </a:rPr>
              <a:t>Lesson from today applies directly: standing instructions that pin interface fidelity are likely worth several points on any public benchmark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1F2A44"/>
                </a:solidFill>
                <a:latin typeface="Segoe UI"/>
              </a:rPr>
              <a:t>Future work (2): SWE-bench via the OpenHands adapter</a:t>
            </a:r>
          </a:p>
          <a:p>
            <a:r>
              <a:rPr sz="1400">
                <a:solidFill>
                  <a:srgbClr val="6A707E"/>
                </a:solidFill>
                <a:latin typeface="Segoe UI"/>
              </a:rPr>
              <a:t>THE coding-agent leaderboard - defines the 'brownfield Anvil' milestone</a:t>
            </a:r>
          </a:p>
        </p:txBody>
      </p:sp>
      <p:sp>
        <p:nvSpPr>
          <p:cNvPr id="3" name="Rectangle 2"/>
          <p:cNvSpPr/>
          <p:nvPr/>
        </p:nvSpPr>
        <p:spPr>
          <a:xfrm>
            <a:off x="594360" y="1170432"/>
            <a:ext cx="1463040" cy="28575"/>
          </a:xfrm>
          <a:prstGeom prst="rect">
            <a:avLst/>
          </a:prstGeom>
          <a:solidFill>
            <a:srgbClr val="C054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463040"/>
            <a:ext cx="109728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500" b="0">
                <a:solidFill>
                  <a:srgbClr val="333844"/>
                </a:solidFill>
                <a:latin typeface="Segoe UI"/>
              </a:rPr>
              <a:t>Task shape is the inverse of today's Anvil: existing repo (1000s of files) + GitHub issue -&gt; a PATCH that makes hidden failing tests pass without breaking passing ones</a:t>
            </a:r>
          </a:p>
          <a:p>
            <a:pPr>
              <a:spcAft>
                <a:spcPts val="800"/>
              </a:spcAft>
            </a:pPr>
            <a:r>
              <a:rPr sz="1500" b="0">
                <a:solidFill>
                  <a:srgbClr val="333844"/>
                </a:solidFill>
                <a:latin typeface="Segoe UI"/>
              </a:rPr>
              <a:t>Gaps (why Anvil can't run it today):</a:t>
            </a:r>
          </a:p>
          <a:p>
            <a:pPr lvl="1">
              <a:spcAft>
                <a:spcPts val="400"/>
              </a:spcAft>
            </a:pPr>
            <a:r>
              <a:rPr sz="1300" b="0">
                <a:solidFill>
                  <a:srgbClr val="6A707E"/>
                </a:solidFill>
                <a:latin typeface="Segoe UI"/>
              </a:rPr>
              <a:t>No brownfield mode - phases generate from scratch; no repo read/navigate/edit</a:t>
            </a:r>
          </a:p>
          <a:p>
            <a:pPr lvl="1">
              <a:spcAft>
                <a:spcPts val="400"/>
              </a:spcAft>
            </a:pPr>
            <a:r>
              <a:rPr sz="1300" b="0">
                <a:solidFill>
                  <a:srgbClr val="6A707E"/>
                </a:solidFill>
                <a:latin typeface="Segoe UI"/>
              </a:rPr>
              <a:t>Doc-waterfall is the wrong altitude for a bug fix (localize -&gt; understand -&gt; patch -&gt; verify)</a:t>
            </a:r>
          </a:p>
          <a:p>
            <a:pPr lvl="1">
              <a:spcAft>
                <a:spcPts val="400"/>
              </a:spcAft>
            </a:pPr>
            <a:r>
              <a:rPr sz="1300" b="0">
                <a:solidFill>
                  <a:srgbClr val="6A707E"/>
                </a:solidFill>
                <a:latin typeface="Segoe UI"/>
              </a:rPr>
              <a:t>No agentic exploration loop - each phase is a single LLM call over capped file inputs</a:t>
            </a:r>
          </a:p>
          <a:p>
            <a:pPr lvl="1">
              <a:spcAft>
                <a:spcPts val="400"/>
              </a:spcAft>
            </a:pPr>
            <a:r>
              <a:rPr sz="1300" b="0">
                <a:solidFill>
                  <a:srgbClr val="6A707E"/>
                </a:solidFill>
                <a:latin typeface="Segoe UI"/>
              </a:rPr>
              <a:t>Output is whole files; SWE-bench scores a git diff evaluated in the task's Docker image</a:t>
            </a:r>
          </a:p>
          <a:p>
            <a:pPr>
              <a:spcAft>
                <a:spcPts val="800"/>
              </a:spcAft>
            </a:pPr>
            <a:r>
              <a:rPr sz="1500" b="0">
                <a:solidFill>
                  <a:srgbClr val="333844"/>
                </a:solidFill>
                <a:latin typeface="Segoe UI"/>
              </a:rPr>
              <a:t>Shortest path: un-park the OpenHands adapter (already stubbed in the codebase)</a:t>
            </a:r>
          </a:p>
          <a:p>
            <a:pPr lvl="1">
              <a:spcAft>
                <a:spcPts val="400"/>
              </a:spcAft>
            </a:pPr>
            <a:r>
              <a:rPr sz="1300" b="0">
                <a:solidFill>
                  <a:srgbClr val="6A707E"/>
                </a:solidFill>
                <a:latin typeface="Segoe UI"/>
              </a:rPr>
              <a:t>OpenHands brings the repo-exploration + tool-use loop; Anvil wraps it with intake, standing instructions, gates, and the audited event trail - that wrapper is the differentiated story</a:t>
            </a:r>
          </a:p>
          <a:p>
            <a:pPr lvl="1">
              <a:spcAft>
                <a:spcPts val="400"/>
              </a:spcAft>
            </a:pPr>
            <a:r>
              <a:rPr sz="1300" b="0">
                <a:solidFill>
                  <a:srgbClr val="6A707E"/>
                </a:solidFill>
                <a:latin typeface="Segoe UI"/>
              </a:rPr>
              <a:t>New 'fix' run type: repo mounted as workspace, fix-oriented phase DAG, diff output</a:t>
            </a:r>
          </a:p>
          <a:p>
            <a:pPr>
              <a:spcAft>
                <a:spcPts val="800"/>
              </a:spcAft>
            </a:pPr>
            <a:r>
              <a:rPr sz="1500" b="0">
                <a:solidFill>
                  <a:srgbClr val="333844"/>
                </a:solidFill>
                <a:latin typeface="Segoe UI"/>
              </a:rPr>
              <a:t>Sequencing: Commit0 first (weeks, thin adapter) -&gt; SWE-bench Verified as the release-defining target (needs the brownfield mode); model routing points at a frontier coding model for submissions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1F2A44"/>
                </a:solidFill>
                <a:latin typeface="Segoe UI"/>
              </a:rPr>
              <a:t>Takeaways</a:t>
            </a:r>
          </a:p>
        </p:txBody>
      </p:sp>
      <p:sp>
        <p:nvSpPr>
          <p:cNvPr id="3" name="Rectangle 2"/>
          <p:cNvSpPr/>
          <p:nvPr/>
        </p:nvSpPr>
        <p:spPr>
          <a:xfrm>
            <a:off x="594360" y="1170432"/>
            <a:ext cx="1463040" cy="28575"/>
          </a:xfrm>
          <a:prstGeom prst="rect">
            <a:avLst/>
          </a:prstGeom>
          <a:solidFill>
            <a:srgbClr val="C054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463040"/>
            <a:ext cx="109728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 b="0">
                <a:solidFill>
                  <a:srgbClr val="333844"/>
                </a:solidFill>
                <a:latin typeface="Segoe UI"/>
              </a:rPr>
              <a:t>Shipped today: a reusable benchmark (evals/) - 6 tasks, 28 held-out tests, one-command runs, release-over-release compare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333844"/>
                </a:solidFill>
                <a:latin typeface="Segoe UI"/>
              </a:rPr>
              <a:t>It found a real defect on day one: interface contracts drift through the doc pipeline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333844"/>
                </a:solidFill>
                <a:latin typeface="Segoe UI"/>
              </a:rPr>
              <a:t>It measured the fix the same day: standing instructions -&gt; 50% -&gt; 100% (+50 pts), drift gone at the source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333844"/>
                </a:solidFill>
                <a:latin typeface="Segoe UI"/>
              </a:rPr>
              <a:t>It validated v0.1.2 features as a side effect: intake, instructions resolution, OKF artifacts, index.md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333844"/>
                </a:solidFill>
                <a:latin typeface="Segoe UI"/>
              </a:rPr>
              <a:t>Next: grow the suite (20-50 tasks, underspecified-prompt tasks to exercise intake), fix complexity assessment, then Commit0 -&gt; SWE-bench via OpenHands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