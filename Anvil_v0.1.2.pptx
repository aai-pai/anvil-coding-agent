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1664208"/>
            <a:ext cx="640080" cy="41148"/>
          </a:xfrm>
          <a:prstGeom prst="rect">
            <a:avLst/>
          </a:prstGeom>
          <a:solidFill>
            <a:srgbClr val="C74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5F3EF"/>
                </a:solidFill>
                <a:latin typeface="Segoe UI"/>
              </a:rPr>
              <a:t>ANVIL v0.1.2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9AA3B0"/>
                </a:solidFill>
                <a:latin typeface="Segoe UI"/>
              </a:rPr>
              <a:t>The four v0.1.2 features, shown through real runs: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F5F3EF"/>
                </a:solidFill>
                <a:latin typeface="Segoe UI"/>
              </a:rPr>
              <a:t>intake Q&amp;A  ·  standing instructions  ·  OKF artifacts  ·  build-from-file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9AA3B0"/>
                </a:solidFill>
                <a:latin typeface="Segoe UI"/>
              </a:rPr>
              <a:t>companion to Anvil_v0.1.2_overview.pptx  ·  branch v0.1.2_jc  · 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74B16"/>
                </a:solidFill>
                <a:latin typeface="Segoe UI"/>
              </a:rPr>
              <a:t>THE INTAKE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 dirty="0">
                <a:solidFill>
                  <a:srgbClr val="1F2430"/>
                </a:solidFill>
                <a:latin typeface="Segoe UI"/>
              </a:rPr>
              <a:t>Two files in, one recorded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432"/>
          </a:xfrm>
          <a:prstGeom prst="rect">
            <a:avLst/>
          </a:prstGeom>
          <a:solidFill>
            <a:srgbClr val="C74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337560" cy="1600200"/>
          </a:xfrm>
          <a:prstGeom prst="roundRect">
            <a:avLst>
              <a:gd name="adj" fmla="val 6000"/>
            </a:avLst>
          </a:prstGeom>
          <a:solidFill>
            <a:srgbClr val="F5F3EF"/>
          </a:solidFill>
          <a:ln w="12700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t"/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1F2430"/>
                </a:solidFill>
                <a:latin typeface="Consolas"/>
              </a:rPr>
              <a:t>anvil-instructions.md</a:t>
            </a:r>
          </a:p>
          <a:p>
            <a:pPr algn="l">
              <a:spcAft>
                <a:spcPts val="400"/>
              </a:spcAft>
            </a:pPr>
            <a:r>
              <a:rPr sz="1250" b="1" i="0" dirty="0">
                <a:solidFill>
                  <a:srgbClr val="C74B16"/>
                </a:solidFill>
                <a:latin typeface="Segoe UI"/>
              </a:rPr>
              <a:t>HOW</a:t>
            </a:r>
            <a:r>
              <a:rPr sz="1250" b="0" i="0" dirty="0">
                <a:solidFill>
                  <a:srgbClr val="5A6472"/>
                </a:solidFill>
                <a:latin typeface="Segoe UI"/>
              </a:rPr>
              <a:t> Anvil behaves — standing defaults, conventions, fallbacks. Workspace-level, living; injected into every phase prompt.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03320"/>
            <a:ext cx="3337560" cy="1600200"/>
          </a:xfrm>
          <a:prstGeom prst="roundRect">
            <a:avLst>
              <a:gd name="adj" fmla="val 6000"/>
            </a:avLst>
          </a:prstGeom>
          <a:solidFill>
            <a:srgbClr val="F5F3EF"/>
          </a:solidFill>
          <a:ln w="12700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t"/>
          <a:lstStyle/>
          <a:p>
            <a:pPr algn="l">
              <a:spcAft>
                <a:spcPts val="400"/>
              </a:spcAft>
            </a:pPr>
            <a:r>
              <a:rPr sz="1400" b="1" i="0" dirty="0">
                <a:solidFill>
                  <a:srgbClr val="1F2430"/>
                </a:solidFill>
                <a:latin typeface="Consolas"/>
              </a:rPr>
              <a:t>background-information.md</a:t>
            </a:r>
          </a:p>
          <a:p>
            <a:pPr algn="l">
              <a:spcAft>
                <a:spcPts val="400"/>
              </a:spcAft>
            </a:pPr>
            <a:r>
              <a:rPr sz="1250" b="1" i="0" dirty="0">
                <a:solidFill>
                  <a:srgbClr val="C74B16"/>
                </a:solidFill>
                <a:latin typeface="Segoe UI"/>
              </a:rPr>
              <a:t>WHAT</a:t>
            </a:r>
            <a:r>
              <a:rPr sz="1250" b="0" i="0" dirty="0">
                <a:solidFill>
                  <a:srgbClr val="5A6472"/>
                </a:solidFill>
                <a:latin typeface="Segoe UI"/>
              </a:rPr>
              <a:t> this run builds — your request, verbatim. Per-run, in the run's domain-knowledge/.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2514600"/>
            <a:ext cx="2788920" cy="210312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t"/>
          <a:lstStyle/>
          <a:p>
            <a:pPr algn="l">
              <a:spcAft>
                <a:spcPts val="400"/>
              </a:spcAft>
            </a:pPr>
            <a:r>
              <a:rPr sz="1700" b="1" i="0" dirty="0">
                <a:solidFill>
                  <a:srgbClr val="F5F3EF"/>
                </a:solidFill>
                <a:latin typeface="Segoe UI"/>
              </a:rPr>
              <a:t>INTAKE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9AA3B0"/>
                </a:solidFill>
                <a:latin typeface="Segoe UI"/>
              </a:rPr>
              <a:t>new phase — runs first, before proposal, at every complexity tier (cheap planning-tier model)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9AA3B0"/>
                </a:solidFill>
                <a:latin typeface="Segoe UI"/>
              </a:rPr>
              <a:t>assesses whether the request is complete enough to build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86200" y="2633472"/>
            <a:ext cx="822960" cy="521208"/>
          </a:xfrm>
          <a:prstGeom prst="line">
            <a:avLst/>
          </a:prstGeom>
          <a:ln w="22225">
            <a:solidFill>
              <a:srgbClr val="9AA3B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886200" y="3977639"/>
            <a:ext cx="822960" cy="530353"/>
          </a:xfrm>
          <a:prstGeom prst="line">
            <a:avLst/>
          </a:prstGeom>
          <a:ln w="22225">
            <a:solidFill>
              <a:srgbClr val="9AA3B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66760" y="1828800"/>
            <a:ext cx="3291840" cy="1298448"/>
          </a:xfrm>
          <a:prstGeom prst="roundRect">
            <a:avLst>
              <a:gd name="adj" fmla="val 6000"/>
            </a:avLst>
          </a:prstGeom>
          <a:solidFill>
            <a:srgbClr val="F5F3EF"/>
          </a:solidFill>
          <a:ln w="12700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t"/>
          <a:lstStyle/>
          <a:p>
            <a:pPr algn="l">
              <a:spcAft>
                <a:spcPts val="400"/>
              </a:spcAft>
            </a:pPr>
            <a:r>
              <a:rPr sz="1350" b="1" i="0" dirty="0">
                <a:solidFill>
                  <a:srgbClr val="1F2430"/>
                </a:solidFill>
                <a:latin typeface="Segoe UI"/>
              </a:rPr>
              <a:t>Complete</a:t>
            </a:r>
          </a:p>
          <a:p>
            <a:pPr algn="l">
              <a:spcAft>
                <a:spcPts val="400"/>
              </a:spcAft>
            </a:pPr>
            <a:r>
              <a:rPr sz="1150" b="0" i="0" dirty="0">
                <a:solidFill>
                  <a:srgbClr val="5A6472"/>
                </a:solidFill>
                <a:latin typeface="Segoe UI"/>
              </a:rPr>
              <a:t>builds straight through — zero pauses, same fire-and-forget as before.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246120"/>
            <a:ext cx="3291840" cy="1298448"/>
          </a:xfrm>
          <a:prstGeom prst="roundRect">
            <a:avLst>
              <a:gd name="adj" fmla="val 6000"/>
            </a:avLst>
          </a:prstGeom>
          <a:solidFill>
            <a:srgbClr val="F5F3EF"/>
          </a:solidFill>
          <a:ln w="12700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t"/>
          <a:lstStyle/>
          <a:p>
            <a:pPr algn="l">
              <a:spcAft>
                <a:spcPts val="400"/>
              </a:spcAft>
            </a:pPr>
            <a:r>
              <a:rPr sz="1350" b="1" i="0" dirty="0">
                <a:solidFill>
                  <a:srgbClr val="1F2430"/>
                </a:solidFill>
                <a:latin typeface="Segoe UI"/>
              </a:rPr>
              <a:t>Gaps · interactive</a:t>
            </a:r>
          </a:p>
          <a:p>
            <a:pPr algn="l">
              <a:spcAft>
                <a:spcPts val="400"/>
              </a:spcAft>
            </a:pPr>
            <a:r>
              <a:rPr sz="1150" b="0" i="0" dirty="0">
                <a:solidFill>
                  <a:srgbClr val="5A6472"/>
                </a:solidFill>
                <a:latin typeface="Segoe UI"/>
              </a:rPr>
              <a:t>asks up to 5 questions in chat, one bounded round; answers are appended to the file under ## Clarifications.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4892040"/>
            <a:ext cx="3291840" cy="1298448"/>
          </a:xfrm>
          <a:prstGeom prst="roundRect">
            <a:avLst>
              <a:gd name="adj" fmla="val 6000"/>
            </a:avLst>
          </a:prstGeom>
          <a:solidFill>
            <a:srgbClr val="F5F3EF"/>
          </a:solidFill>
          <a:ln w="12700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t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2430"/>
                </a:solidFill>
                <a:latin typeface="Segoe UI"/>
              </a:rPr>
              <a:t>Gaps · yolo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5A6472"/>
                </a:solidFill>
                <a:latin typeface="Segoe UI"/>
              </a:rPr>
              <a:t>never pauses — fills gaps from instructions defaults, recorded under ## Assumptions.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498079" y="2478024"/>
            <a:ext cx="868681" cy="539496"/>
          </a:xfrm>
          <a:prstGeom prst="line">
            <a:avLst/>
          </a:prstGeom>
          <a:ln w="22225">
            <a:solidFill>
              <a:srgbClr val="9AA3B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98079" y="3566160"/>
            <a:ext cx="868681" cy="329184"/>
          </a:xfrm>
          <a:prstGeom prst="line">
            <a:avLst/>
          </a:prstGeom>
          <a:ln w="22225">
            <a:solidFill>
              <a:srgbClr val="9AA3B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98079" y="4114800"/>
            <a:ext cx="868681" cy="1426464"/>
          </a:xfrm>
          <a:prstGeom prst="line">
            <a:avLst/>
          </a:prstGeom>
          <a:ln w="22225">
            <a:solidFill>
              <a:srgbClr val="9AA3B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806440"/>
            <a:ext cx="7635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2430"/>
                </a:solidFill>
                <a:latin typeface="Segoe UI"/>
              </a:rPr>
              <a:t>Every answer and every assumption lands in background-information.md — the file is the single source of truth; chat history is never load-bearing.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74B16"/>
                </a:solidFill>
                <a:latin typeface="Segoe UI"/>
              </a:rPr>
              <a:t>THEN · v0.1.1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2430"/>
                </a:solidFill>
                <a:latin typeface="Segoe UI"/>
              </a:rPr>
              <a:t>Fire-and-forget: built from your words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432"/>
          </a:xfrm>
          <a:prstGeom prst="rect">
            <a:avLst/>
          </a:prstGeom>
          <a:solidFill>
            <a:srgbClr val="C74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669280" cy="475488"/>
          </a:xfrm>
          <a:prstGeom prst="roundRect">
            <a:avLst>
              <a:gd name="adj" fmla="val 28000"/>
            </a:avLst>
          </a:prstGeom>
          <a:solidFill>
            <a:srgbClr val="ECEFF4"/>
          </a:solidFill>
          <a:ln w="12700">
            <a:solidFill>
              <a:srgbClr val="C5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ctr"/>
          <a:lstStyle/>
          <a:p>
            <a:pPr algn="ctr">
              <a:spcAft>
                <a:spcPts val="400"/>
              </a:spcAft>
            </a:pPr>
            <a:r>
              <a:rPr sz="1400" b="1" i="0" dirty="0">
                <a:solidFill>
                  <a:srgbClr val="1F2430"/>
                </a:solidFill>
                <a:latin typeface="Consolas"/>
              </a:rPr>
              <a:t>@anvil build a modern to-do list in 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58521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6472"/>
                </a:solidFill>
                <a:latin typeface="Segoe UI"/>
              </a:rPr>
              <a:t>v0.1.1 wrote the request </a:t>
            </a:r>
            <a:r>
              <a:rPr sz="1500" b="1" i="0">
                <a:solidFill>
                  <a:srgbClr val="1F2430"/>
                </a:solidFill>
                <a:latin typeface="Segoe UI"/>
              </a:rPr>
              <a:t>verbatim</a:t>
            </a:r>
            <a:r>
              <a:rPr sz="1500" b="0" i="0">
                <a:solidFill>
                  <a:srgbClr val="5A6472"/>
                </a:solidFill>
                <a:latin typeface="Segoe UI"/>
              </a:rPr>
              <a:t> into background-information.md and built from there — no questions asked.</a:t>
            </a:r>
          </a:p>
        </p:txBody>
      </p:sp>
      <p:pic>
        <p:nvPicPr>
          <p:cNvPr id="7" name="Picture 6" descr="slide3_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46120"/>
            <a:ext cx="7863840" cy="1972162"/>
          </a:xfrm>
          <a:prstGeom prst="rect">
            <a:avLst/>
          </a:prstGeom>
          <a:ln w="12700">
            <a:solidFill>
              <a:srgbClr val="D9D4C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9496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9AA3B0"/>
                </a:solidFill>
                <a:latin typeface="Segoe UI"/>
              </a:rPr>
              <a:t>The run's entire intent: one line in domain-knowledge/background-information.md — “build it from here.”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1691640"/>
            <a:ext cx="2926080" cy="4023360"/>
          </a:xfrm>
          <a:prstGeom prst="roundRect">
            <a:avLst>
              <a:gd name="adj" fmla="val 6000"/>
            </a:avLst>
          </a:prstGeom>
          <a:solidFill>
            <a:srgbClr val="F5F3EF"/>
          </a:solidFill>
          <a:ln w="12700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t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74B16"/>
                </a:solidFill>
                <a:latin typeface="Segoe UI"/>
              </a:rPr>
              <a:t>The gap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6472"/>
                </a:solidFill>
                <a:latin typeface="Segoe UI"/>
              </a:rPr>
              <a:t>Stack, features, styling, persistence — all assumed silently.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6472"/>
                </a:solidFill>
                <a:latin typeface="Segoe UI"/>
              </a:rPr>
              <a:t>It worked, but you only discovered the assumptions in the finished product.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2430"/>
                </a:solidFill>
                <a:latin typeface="Segoe UI"/>
              </a:rPr>
              <a:t>v0.1.2 closes exactly this loop.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74B16"/>
                </a:solidFill>
                <a:latin typeface="Segoe UI"/>
              </a:rPr>
              <a:t>NOW · v0.1.2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2430"/>
                </a:solidFill>
                <a:latin typeface="Segoe UI"/>
              </a:rPr>
              <a:t>@anvil build opens a conversation — once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432"/>
          </a:xfrm>
          <a:prstGeom prst="rect">
            <a:avLst/>
          </a:prstGeom>
          <a:solidFill>
            <a:srgbClr val="C74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852160" cy="475488"/>
          </a:xfrm>
          <a:prstGeom prst="roundRect">
            <a:avLst>
              <a:gd name="adj" fmla="val 28000"/>
            </a:avLst>
          </a:prstGeom>
          <a:solidFill>
            <a:srgbClr val="ECEFF4"/>
          </a:solidFill>
          <a:ln w="12700">
            <a:solidFill>
              <a:srgbClr val="C5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ctr"/>
          <a:lstStyle/>
          <a:p>
            <a:pPr algn="ctr">
              <a:spcAft>
                <a:spcPts val="400"/>
              </a:spcAft>
            </a:pPr>
            <a:r>
              <a:rPr sz="1400" b="1" i="0" dirty="0">
                <a:solidFill>
                  <a:srgbClr val="1F2430"/>
                </a:solidFill>
                <a:latin typeface="Consolas"/>
              </a:rPr>
              <a:t>@anvil build a personal webpage for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9AA3B0"/>
                </a:solidFill>
                <a:latin typeface="Consolas"/>
              </a:rPr>
              <a:t>run pauses: awaiting_clarification</a:t>
            </a:r>
          </a:p>
        </p:txBody>
      </p:sp>
      <p:pic>
        <p:nvPicPr>
          <p:cNvPr id="7" name="Picture 6" descr="slide4_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06040"/>
            <a:ext cx="3063240" cy="1792827"/>
          </a:xfrm>
          <a:prstGeom prst="rect">
            <a:avLst/>
          </a:prstGeom>
          <a:ln w="12700">
            <a:solidFill>
              <a:srgbClr val="D9D4C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069080" y="2697480"/>
            <a:ext cx="265176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F2430"/>
                </a:solidFill>
                <a:latin typeface="Segoe UI"/>
              </a:rPr>
              <a:t>Intake asks only what neither file already answers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472"/>
                </a:solidFill>
                <a:latin typeface="Segoe UI"/>
              </a:rPr>
              <a:t>stack, persistence &amp; platform were covered by anvil-instructions.md — so just 2 questions.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17720"/>
            <a:ext cx="5852160" cy="475488"/>
          </a:xfrm>
          <a:prstGeom prst="roundRect">
            <a:avLst>
              <a:gd name="adj" fmla="val 28000"/>
            </a:avLst>
          </a:prstGeom>
          <a:solidFill>
            <a:srgbClr val="ECEFF4"/>
          </a:solidFill>
          <a:ln w="12700">
            <a:solidFill>
              <a:srgbClr val="C5C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ctr"/>
          <a:lstStyle/>
          <a:p>
            <a:pPr algn="ctr">
              <a:spcAft>
                <a:spcPts val="400"/>
              </a:spcAft>
            </a:pPr>
            <a:r>
              <a:rPr sz="1400" b="1" i="0" dirty="0">
                <a:solidFill>
                  <a:srgbClr val="1F2430"/>
                </a:solidFill>
                <a:latin typeface="Consolas"/>
              </a:rPr>
              <a:t>@anvil answer for my portfolio; dark 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03520"/>
            <a:ext cx="5852160" cy="475488"/>
          </a:xfrm>
          <a:prstGeom prst="roundRect">
            <a:avLst>
              <a:gd name="adj" fmla="val 28000"/>
            </a:avLst>
          </a:prstGeom>
          <a:solidFill>
            <a:srgbClr val="F5F3EF"/>
          </a:solidFill>
          <a:ln w="12700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E7C4F"/>
                </a:solidFill>
                <a:latin typeface="Consolas"/>
              </a:rPr>
              <a:t>✓ completed</a:t>
            </a:r>
            <a:r>
              <a:rPr sz="1300" b="0" i="0">
                <a:solidFill>
                  <a:srgbClr val="5A6472"/>
                </a:solidFill>
                <a:latin typeface="Consolas"/>
              </a:rPr>
              <a:t>  intake → … → implementation · simple tier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645920"/>
            <a:ext cx="4709160" cy="4160520"/>
          </a:xfrm>
          <a:prstGeom prst="roundRect">
            <a:avLst>
              <a:gd name="adj" fmla="val 6000"/>
            </a:avLst>
          </a:prstGeom>
          <a:solidFill>
            <a:srgbClr val="F5F3EF"/>
          </a:solidFill>
          <a:ln w="12700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t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74B16"/>
                </a:solidFill>
                <a:latin typeface="Segoe UI"/>
              </a:rPr>
              <a:t>Bounded by design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6472"/>
                </a:solidFill>
                <a:latin typeface="Segoe UI"/>
              </a:rPr>
              <a:t>One clarification round per run — like bounded self-heal retries, a run can never stall on questions.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5A6472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74B16"/>
                </a:solidFill>
                <a:latin typeface="Segoe UI"/>
              </a:rPr>
              <a:t>Gated, then unattended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6472"/>
                </a:solidFill>
                <a:latin typeface="Segoe UI"/>
              </a:rPr>
              <a:t>build now starts runs in gated mode so intake can ask from chat; after that, the run builds itself. A complete request still means zero pauses.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5A6472"/>
              </a:solidFill>
              <a:latin typeface="Segoe UI"/>
            </a:endParaRPr>
          </a:p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C74B16"/>
                </a:solidFill>
                <a:latin typeface="Segoe UI"/>
              </a:rPr>
              <a:t>yolo unchanged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A6472"/>
                </a:solidFill>
                <a:latin typeface="Segoe UI"/>
              </a:rPr>
              <a:t>REST callers keep mode: yolo for the hard never-pause guarantee.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74B16"/>
                </a:solidFill>
                <a:latin typeface="Segoe UI"/>
              </a:rPr>
              <a:t>SINGLE SOURCE OF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2430"/>
                </a:solidFill>
                <a:latin typeface="Segoe UI"/>
              </a:rPr>
              <a:t>The file remembers the conversation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432"/>
          </a:xfrm>
          <a:prstGeom prst="rect">
            <a:avLst/>
          </a:prstGeom>
          <a:solidFill>
            <a:srgbClr val="C74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6035040" cy="4434840"/>
          </a:xfrm>
          <a:prstGeom prst="roundRect">
            <a:avLst>
              <a:gd name="adj" fmla="val 4000"/>
            </a:avLst>
          </a:prstGeom>
          <a:solidFill>
            <a:srgbClr val="1E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0934" rIns="201168" bIns="160934" rtlCol="0" anchor="t"/>
          <a:lstStyle/>
          <a:p>
            <a:pPr algn="l">
              <a:spcAft>
                <a:spcPts val="400"/>
              </a:spcAft>
            </a:pPr>
            <a:r>
              <a:rPr sz="1300" b="1" i="0" dirty="0">
                <a:solidFill>
                  <a:srgbClr val="8AB4E8"/>
                </a:solidFill>
                <a:latin typeface="Consolas"/>
              </a:rPr>
              <a:t># Project Request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8E4DC"/>
                </a:solidFill>
                <a:latin typeface="Consolas"/>
              </a:rPr>
              <a:t>a personal webpage for me</a:t>
            </a:r>
          </a:p>
          <a:p>
            <a:pPr algn="l">
              <a:spcAft>
                <a:spcPts val="400"/>
              </a:spcAft>
            </a:pPr>
            <a:endParaRPr sz="1300" b="0" i="0" dirty="0">
              <a:solidFill>
                <a:srgbClr val="E8E4DC"/>
              </a:solidFill>
              <a:latin typeface="Consolas"/>
            </a:endParaRPr>
          </a:p>
          <a:p>
            <a:pPr algn="l">
              <a:spcAft>
                <a:spcPts val="400"/>
              </a:spcAft>
            </a:pPr>
            <a:r>
              <a:rPr sz="1300" b="1" i="0" dirty="0">
                <a:solidFill>
                  <a:srgbClr val="8AB4E8"/>
                </a:solidFill>
                <a:latin typeface="Consolas"/>
              </a:rPr>
              <a:t>## Clarifications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8E4DC"/>
                </a:solidFill>
                <a:latin typeface="Consolas"/>
              </a:rPr>
              <a:t>Q: What sections/content must be included?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8A87C"/>
                </a:solidFill>
                <a:latin typeface="Consolas"/>
              </a:rPr>
              <a:t>A: for my portfolio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8E4DC"/>
                </a:solidFill>
                <a:latin typeface="Consolas"/>
              </a:rPr>
              <a:t>Q: Preferred visual style or color scheme?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8A87C"/>
                </a:solidFill>
                <a:latin typeface="Consolas"/>
              </a:rPr>
              <a:t>A: dark mode</a:t>
            </a:r>
          </a:p>
          <a:p>
            <a:pPr algn="l">
              <a:spcAft>
                <a:spcPts val="400"/>
              </a:spcAft>
            </a:pPr>
            <a:endParaRPr sz="1300" b="0" i="0" dirty="0">
              <a:solidFill>
                <a:srgbClr val="E8A87C"/>
              </a:solidFill>
              <a:latin typeface="Consolas"/>
            </a:endParaRPr>
          </a:p>
          <a:p>
            <a:pPr algn="l">
              <a:spcAft>
                <a:spcPts val="400"/>
              </a:spcAft>
            </a:pPr>
            <a:r>
              <a:rPr sz="1300" b="1" i="0" dirty="0">
                <a:solidFill>
                  <a:srgbClr val="8AB4E8"/>
                </a:solidFill>
                <a:latin typeface="Consolas"/>
              </a:rPr>
              <a:t>## Assumptions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8E4DC"/>
                </a:solidFill>
                <a:latin typeface="Consolas"/>
              </a:rPr>
              <a:t>- single-file HTML/CSS/JS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8E4DC"/>
                </a:solidFill>
                <a:latin typeface="Consolas"/>
              </a:rPr>
              <a:t>- placeholder portfolio sections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8E4DC"/>
                </a:solidFill>
                <a:latin typeface="Consolas"/>
              </a:rPr>
              <a:t>- no persistence · single-page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99632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AA3B0"/>
                </a:solidFill>
                <a:latin typeface="Consolas"/>
              </a:rPr>
              <a:t>runs/2026-07-03-a-personal-webpage-for-me/domain-knowledge/background-information.md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691640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Segoe UI"/>
              </a:rPr>
              <a:t>Request, verbatim  </a:t>
            </a:r>
            <a:r>
              <a:rPr sz="1350" b="0" i="0">
                <a:solidFill>
                  <a:srgbClr val="5A6472"/>
                </a:solidFill>
                <a:latin typeface="Segoe UI"/>
              </a:rPr>
              <a:t>— what you typed is never rewritten — only appended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587752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Segoe UI"/>
              </a:rPr>
              <a:t>Q&amp;A appended  </a:t>
            </a:r>
            <a:r>
              <a:rPr sz="1350" b="0" i="0">
                <a:solidFill>
                  <a:srgbClr val="5A6472"/>
                </a:solidFill>
                <a:latin typeface="Segoe UI"/>
              </a:rPr>
              <a:t>— answers land under ## Clarifications the moment you reply.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483864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Segoe UI"/>
              </a:rPr>
              <a:t>Defaults recorded  </a:t>
            </a:r>
            <a:r>
              <a:rPr sz="1350" b="0" i="0">
                <a:solidFill>
                  <a:srgbClr val="5A6472"/>
                </a:solidFill>
                <a:latin typeface="Segoe UI"/>
              </a:rPr>
              <a:t>— anything intake assumed is written under ## Assumptions — nothing is silent.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4379976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Segoe UI"/>
              </a:rPr>
              <a:t>Fully auditable  </a:t>
            </a:r>
            <a:r>
              <a:rPr sz="1350" b="0" i="0">
                <a:solidFill>
                  <a:srgbClr val="5A6472"/>
                </a:solidFill>
                <a:latin typeface="Segoe UI"/>
              </a:rPr>
              <a:t>— ClarificationRequired / ClarificationReceived / IntakeAssessed events in logs/events.jsonl.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5276088"/>
            <a:ext cx="480060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430"/>
                </a:solidFill>
                <a:latin typeface="Segoe UI"/>
              </a:rPr>
              <a:t>Downstream reads the file  </a:t>
            </a:r>
            <a:r>
              <a:rPr sz="1350" b="0" i="0">
                <a:solidFill>
                  <a:srgbClr val="5A6472"/>
                </a:solidFill>
                <a:latin typeface="Segoe UI"/>
              </a:rPr>
              <a:t>— proposal, spec and every later phase see the enriched file — never the chat.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74B16"/>
                </a:solidFill>
                <a:latin typeface="Segoe UI"/>
              </a:rPr>
              <a:t>OKF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2430"/>
                </a:solidFill>
                <a:latin typeface="Segoe UI"/>
              </a:rPr>
              <a:t>Docs that machines can read — and 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432"/>
          </a:xfrm>
          <a:prstGeom prst="rect">
            <a:avLst/>
          </a:prstGeom>
          <a:solidFill>
            <a:srgbClr val="C74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4846320" cy="3931920"/>
          </a:xfrm>
          <a:prstGeom prst="roundRect">
            <a:avLst>
              <a:gd name="adj" fmla="val 4000"/>
            </a:avLst>
          </a:prstGeom>
          <a:solidFill>
            <a:srgbClr val="1E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0934" rIns="201168" bIns="160934" rtlCol="0" anchor="t"/>
          <a:lstStyle/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8E4DC"/>
                </a:solidFill>
                <a:latin typeface="Consolas"/>
              </a:rPr>
              <a:t>---</a:t>
            </a:r>
          </a:p>
          <a:p>
            <a:pPr algn="l">
              <a:spcAft>
                <a:spcPts val="400"/>
              </a:spcAft>
            </a:pPr>
            <a:r>
              <a:rPr sz="1300" b="1" i="0" dirty="0">
                <a:solidFill>
                  <a:srgbClr val="E8A87C"/>
                </a:solidFill>
                <a:latin typeface="Consolas"/>
              </a:rPr>
              <a:t>type: Architecture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8E4DC"/>
                </a:solidFill>
                <a:latin typeface="Consolas"/>
              </a:rPr>
              <a:t>title: "Architecture — …"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8E4DC"/>
                </a:solidFill>
                <a:latin typeface="Consolas"/>
              </a:rPr>
              <a:t>description: …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8E4DC"/>
                </a:solidFill>
                <a:latin typeface="Consolas"/>
              </a:rPr>
              <a:t>tags: [anvil, architecture]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8E4DC"/>
                </a:solidFill>
                <a:latin typeface="Consolas"/>
              </a:rPr>
              <a:t>timestamp: 2026-07-03T23:56:00Z</a:t>
            </a:r>
          </a:p>
          <a:p>
            <a:pPr algn="l">
              <a:spcAft>
                <a:spcPts val="400"/>
              </a:spcAft>
            </a:pPr>
            <a:r>
              <a:rPr sz="1300" b="0" i="0" dirty="0" err="1">
                <a:solidFill>
                  <a:srgbClr val="9AA3B0"/>
                </a:solidFill>
                <a:latin typeface="Consolas"/>
              </a:rPr>
              <a:t>artifactId</a:t>
            </a:r>
            <a:r>
              <a:rPr sz="1300" b="0" i="0" dirty="0">
                <a:solidFill>
                  <a:srgbClr val="9AA3B0"/>
                </a:solidFill>
                <a:latin typeface="Consolas"/>
              </a:rPr>
              <a:t>: architecture-v1   # Anvil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9AA3B0"/>
                </a:solidFill>
                <a:latin typeface="Consolas"/>
              </a:rPr>
              <a:t>phase: architecture           # lineage</a:t>
            </a:r>
          </a:p>
          <a:p>
            <a:pPr algn="l">
              <a:spcAft>
                <a:spcPts val="400"/>
              </a:spcAft>
            </a:pPr>
            <a:r>
              <a:rPr sz="1300" b="0" i="0" dirty="0" err="1">
                <a:solidFill>
                  <a:srgbClr val="9AA3B0"/>
                </a:solidFill>
                <a:latin typeface="Consolas"/>
              </a:rPr>
              <a:t>derivedFrom</a:t>
            </a:r>
            <a:r>
              <a:rPr sz="1300" b="0" i="0" dirty="0">
                <a:solidFill>
                  <a:srgbClr val="9AA3B0"/>
                </a:solidFill>
                <a:latin typeface="Consolas"/>
              </a:rPr>
              <a:t>:                  # fields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9AA3B0"/>
                </a:solidFill>
                <a:latin typeface="Consolas"/>
              </a:rPr>
              <a:t>- docs/spec.md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E8E4DC"/>
                </a:solidFill>
                <a:latin typeface="Consolas"/>
              </a:rPr>
              <a:t>---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15000"/>
            <a:ext cx="4846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A6472"/>
                </a:solidFill>
                <a:latin typeface="Segoe UI"/>
              </a:rPr>
              <a:t>Google's Open Knowledge Format (v0.1, June 2026): only </a:t>
            </a:r>
            <a:r>
              <a:rPr sz="1250" b="1" i="0">
                <a:solidFill>
                  <a:srgbClr val="1F2430"/>
                </a:solidFill>
                <a:latin typeface="Consolas"/>
              </a:rPr>
              <a:t>type</a:t>
            </a:r>
            <a:r>
              <a:rPr sz="1250" b="0" i="0">
                <a:solidFill>
                  <a:srgbClr val="5A6472"/>
                </a:solidFill>
                <a:latin typeface="Segoe UI"/>
              </a:rPr>
              <a:t> is mandated — Anvil's lineage fields ride along as producer extensions.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2103120"/>
            <a:ext cx="16916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 i="0">
                <a:solidFill>
                  <a:srgbClr val="1F2430"/>
                </a:solidFill>
                <a:latin typeface="Consolas"/>
              </a:rPr>
              <a:t>derivedFrom</a:t>
            </a:r>
            <a:r>
              <a:rPr sz="1200" b="0" i="0">
                <a:solidFill>
                  <a:srgbClr val="5A6472"/>
                </a:solidFill>
                <a:latin typeface="Segoe UI"/>
              </a:rPr>
              <a:t> makes every run's docs/ a derivation graph you can visualize or feed to other agents.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5A6472"/>
                </a:solidFill>
                <a:latin typeface="Segoe UI"/>
              </a:rPr>
              <a:t>Plus a deterministic </a:t>
            </a:r>
            <a:r>
              <a:rPr sz="1200" b="1" i="0">
                <a:solidFill>
                  <a:srgbClr val="1F2430"/>
                </a:solidFill>
                <a:latin typeface="Consolas"/>
              </a:rPr>
              <a:t>docs/index.md</a:t>
            </a:r>
            <a:r>
              <a:rPr sz="1200" b="0" i="0">
                <a:solidFill>
                  <a:srgbClr val="5A6472"/>
                </a:solidFill>
                <a:latin typeface="Segoe UI"/>
              </a:rPr>
              <a:t> per run — no LLM call.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598932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9AA3B0"/>
                </a:solidFill>
                <a:latin typeface="Segoe UI"/>
              </a:rPr>
              <a:t>The docs graph of the personal-webpage demo run, straight from its frontmatter.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106BF29-BC1E-29B0-45C5-FB60858AE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664208"/>
            <a:ext cx="4370583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74B16"/>
                </a:solidFill>
                <a:latin typeface="Segoe UI"/>
              </a:rPr>
              <a:t>BUILD FROM A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 dirty="0">
                <a:solidFill>
                  <a:srgbClr val="1F2430"/>
                </a:solidFill>
                <a:latin typeface="Segoe UI"/>
              </a:rPr>
              <a:t>Bring your own background-information.md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27432"/>
          </a:xfrm>
          <a:prstGeom prst="rect">
            <a:avLst/>
          </a:prstGeom>
          <a:solidFill>
            <a:srgbClr val="C74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2359152"/>
            <a:ext cx="3749039" cy="1417320"/>
          </a:xfrm>
          <a:prstGeom prst="roundRect">
            <a:avLst>
              <a:gd name="adj" fmla="val 6000"/>
            </a:avLst>
          </a:prstGeom>
          <a:solidFill>
            <a:srgbClr val="F5F3EF"/>
          </a:solidFill>
          <a:ln w="12700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t"/>
          <a:lstStyle/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9AA3B0"/>
                </a:solidFill>
                <a:latin typeface="Consolas"/>
              </a:rPr>
              <a:t>your-folder/</a:t>
            </a:r>
          </a:p>
          <a:p>
            <a:pPr algn="l">
              <a:spcAft>
                <a:spcPts val="400"/>
              </a:spcAft>
            </a:pPr>
            <a:r>
              <a:rPr sz="1300" b="0" i="0" dirty="0">
                <a:solidFill>
                  <a:srgbClr val="9AA3B0"/>
                </a:solidFill>
                <a:latin typeface="Consolas"/>
              </a:rPr>
              <a:t>domain-knowledge/</a:t>
            </a:r>
          </a:p>
          <a:p>
            <a:pPr algn="l">
              <a:spcAft>
                <a:spcPts val="400"/>
              </a:spcAft>
            </a:pPr>
            <a:r>
              <a:rPr sz="1300" b="1" i="0" dirty="0">
                <a:solidFill>
                  <a:srgbClr val="1F2430"/>
                </a:solidFill>
                <a:latin typeface="Consolas"/>
              </a:rPr>
              <a:t>background-information.md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0" y="3072384"/>
            <a:ext cx="777240" cy="0"/>
          </a:xfrm>
          <a:prstGeom prst="line">
            <a:avLst/>
          </a:prstGeom>
          <a:ln w="22225">
            <a:solidFill>
              <a:srgbClr val="9AA3B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24528" y="263347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9AA3B0"/>
                </a:solidFill>
                <a:latin typeface="Segoe UI"/>
              </a:rPr>
              <a:t>copied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2359152"/>
            <a:ext cx="3977639" cy="1417320"/>
          </a:xfrm>
          <a:prstGeom prst="roundRect">
            <a:avLst>
              <a:gd name="adj" fmla="val 6000"/>
            </a:avLst>
          </a:prstGeom>
          <a:solidFill>
            <a:srgbClr val="F5F3EF"/>
          </a:solidFill>
          <a:ln w="12700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t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2430"/>
                </a:solidFill>
                <a:latin typeface="Consolas"/>
              </a:rPr>
              <a:t>runs/&lt;date&gt;-&lt;slug&gt;/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Segoe UI"/>
              </a:rPr>
              <a:t>fresh, isolated run workspace — slug from the file's first heading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52560" y="3072384"/>
            <a:ext cx="731520" cy="0"/>
          </a:xfrm>
          <a:prstGeom prst="line">
            <a:avLst/>
          </a:prstGeom>
          <a:ln w="22225">
            <a:solidFill>
              <a:srgbClr val="9AA3B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784080" y="2359152"/>
            <a:ext cx="1874519" cy="1417320"/>
          </a:xfrm>
          <a:prstGeom prst="roundRect">
            <a:avLst>
              <a:gd name="adj" fmla="val 6000"/>
            </a:avLst>
          </a:prstGeom>
          <a:solidFill>
            <a:srgbClr val="F5F3EF"/>
          </a:solidFill>
          <a:ln w="12700">
            <a:solidFill>
              <a:srgbClr val="D9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02412" rIns="128016" bIns="102412" rtlCol="0" anchor="t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472"/>
                </a:solidFill>
                <a:latin typeface="Segoe UI"/>
              </a:rPr>
              <a:t>normal run:
intake → … →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42232"/>
            <a:ext cx="110642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 dirty="0">
                <a:solidFill>
                  <a:srgbClr val="5A6472"/>
                </a:solidFill>
                <a:latin typeface="Segoe UI"/>
              </a:rPr>
              <a:t>Bare </a:t>
            </a:r>
            <a:r>
              <a:rPr sz="1400" b="1" i="0" dirty="0">
                <a:solidFill>
                  <a:srgbClr val="1F2430"/>
                </a:solidFill>
                <a:latin typeface="Consolas"/>
              </a:rPr>
              <a:t>@anvil build</a:t>
            </a:r>
            <a:r>
              <a:rPr sz="1500" b="0" i="0" dirty="0">
                <a:solidFill>
                  <a:srgbClr val="5A6472"/>
                </a:solidFill>
                <a:latin typeface="Segoe UI"/>
              </a:rPr>
              <a:t>  resolves the open folder's domain-knowledge/background-information.md and builds from it.</a:t>
            </a:r>
          </a:p>
          <a:p>
            <a:pPr algn="l">
              <a:spcAft>
                <a:spcPts val="800"/>
              </a:spcAft>
            </a:pPr>
            <a:r>
              <a:rPr sz="1500" b="0" i="0" dirty="0">
                <a:solidFill>
                  <a:srgbClr val="5A6472"/>
                </a:solidFill>
                <a:latin typeface="Segoe UI"/>
              </a:rPr>
              <a:t>REST:  </a:t>
            </a:r>
            <a:r>
              <a:rPr sz="1400" b="1" i="0" dirty="0" err="1">
                <a:solidFill>
                  <a:srgbClr val="1F2430"/>
                </a:solidFill>
                <a:latin typeface="Consolas"/>
              </a:rPr>
              <a:t>source_path</a:t>
            </a:r>
            <a:r>
              <a:rPr sz="1500" b="0" i="0" dirty="0">
                <a:solidFill>
                  <a:srgbClr val="5A6472"/>
                </a:solidFill>
                <a:latin typeface="Segoe UI"/>
              </a:rPr>
              <a:t> on POST /v1/runs (mutually exclusive with task; clean 400 on a missing file).</a:t>
            </a:r>
          </a:p>
          <a:p>
            <a:pPr algn="l">
              <a:spcAft>
                <a:spcPts val="800"/>
              </a:spcAft>
            </a:pPr>
            <a:r>
              <a:rPr sz="1500" b="1" i="0" dirty="0">
                <a:solidFill>
                  <a:srgbClr val="1F2430"/>
                </a:solidFill>
                <a:latin typeface="Segoe UI"/>
              </a:rPr>
              <a:t>Isolation preserved:  </a:t>
            </a:r>
            <a:r>
              <a:rPr sz="1500" b="0" i="0" dirty="0">
                <a:solidFill>
                  <a:srgbClr val="5A6472"/>
                </a:solidFill>
                <a:latin typeface="Segoe UI"/>
              </a:rPr>
              <a:t>runs never build inside your repo — the v0.1.1 FR-001 guarantee applies unchanged.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74B16"/>
                </a:solidFill>
                <a:latin typeface="Segoe UI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5F3EF"/>
                </a:solidFill>
                <a:latin typeface="Segoe UI"/>
              </a:rPr>
              <a:t>Three commands, one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54480"/>
            <a:ext cx="10469880" cy="27432"/>
          </a:xfrm>
          <a:prstGeom prst="rect">
            <a:avLst/>
          </a:prstGeom>
          <a:solidFill>
            <a:srgbClr val="C74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10469880" cy="804672"/>
          </a:xfrm>
          <a:prstGeom prst="roundRect">
            <a:avLst>
              <a:gd name="adj" fmla="val 10000"/>
            </a:avLst>
          </a:prstGeom>
          <a:solidFill>
            <a:srgbClr val="1E232D"/>
          </a:solidFill>
          <a:ln w="12700">
            <a:solidFill>
              <a:srgbClr val="303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E8A87C"/>
                </a:solidFill>
                <a:latin typeface="Consolas"/>
              </a:rPr>
              <a:t>@anvil build &lt;text&gt;</a:t>
            </a:r>
            <a:r>
              <a:rPr sz="1400" b="0" i="0" dirty="0">
                <a:solidFill>
                  <a:srgbClr val="9AA3B0"/>
                </a:solidFill>
                <a:latin typeface="Segoe UI"/>
              </a:rPr>
              <a:t>    isolated run · asks once if something is missing · then fully autonomous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898648"/>
            <a:ext cx="10469880" cy="804672"/>
          </a:xfrm>
          <a:prstGeom prst="roundRect">
            <a:avLst>
              <a:gd name="adj" fmla="val 10000"/>
            </a:avLst>
          </a:prstGeom>
          <a:solidFill>
            <a:srgbClr val="1E232D"/>
          </a:solidFill>
          <a:ln w="12700">
            <a:solidFill>
              <a:srgbClr val="303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E8A87C"/>
                </a:solidFill>
                <a:latin typeface="Consolas"/>
              </a:rPr>
              <a:t>@anvil build</a:t>
            </a:r>
            <a:r>
              <a:rPr sz="1400" b="0" i="0" dirty="0">
                <a:solidFill>
                  <a:srgbClr val="9AA3B0"/>
                </a:solidFill>
                <a:latin typeface="Segoe UI"/>
              </a:rPr>
              <a:t>    same, but the intent comes from the open folder's background-information.md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831335"/>
            <a:ext cx="10469880" cy="804672"/>
          </a:xfrm>
          <a:prstGeom prst="roundRect">
            <a:avLst>
              <a:gd name="adj" fmla="val 10000"/>
            </a:avLst>
          </a:prstGeom>
          <a:solidFill>
            <a:srgbClr val="1E232D"/>
          </a:solidFill>
          <a:ln w="12700">
            <a:solidFill>
              <a:srgbClr val="303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E8A87C"/>
                </a:solidFill>
                <a:latin typeface="Consolas"/>
              </a:rPr>
              <a:t>@anvil answer &lt;a1&gt;; &lt;a2&gt;</a:t>
            </a:r>
            <a:r>
              <a:rPr sz="1400" b="0" i="0" dirty="0">
                <a:solidFill>
                  <a:srgbClr val="9AA3B0"/>
                </a:solidFill>
                <a:latin typeface="Segoe UI"/>
              </a:rPr>
              <a:t>    answers intake's questions — the run resumes and finishes unattended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764023"/>
            <a:ext cx="10469880" cy="804672"/>
          </a:xfrm>
          <a:prstGeom prst="roundRect">
            <a:avLst>
              <a:gd name="adj" fmla="val 10000"/>
            </a:avLst>
          </a:prstGeom>
          <a:solidFill>
            <a:srgbClr val="1E232D"/>
          </a:solidFill>
          <a:ln w="12700">
            <a:solidFill>
              <a:srgbClr val="303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bIns="146304" rtlCol="0" anchor="ctr"/>
          <a:lstStyle/>
          <a:p>
            <a:pPr algn="l">
              <a:spcAft>
                <a:spcPts val="400"/>
              </a:spcAft>
            </a:pPr>
            <a:r>
              <a:rPr sz="1500" b="1" i="0" dirty="0">
                <a:solidFill>
                  <a:srgbClr val="E8A87C"/>
                </a:solidFill>
                <a:latin typeface="Consolas"/>
              </a:rPr>
              <a:t>@anvil start [mode]</a:t>
            </a:r>
            <a:r>
              <a:rPr sz="1400" b="0" i="0" dirty="0">
                <a:solidFill>
                  <a:srgbClr val="9AA3B0"/>
                </a:solidFill>
                <a:latin typeface="Segoe UI"/>
              </a:rPr>
              <a:t>    advanced path: in-place, </a:t>
            </a:r>
            <a:r>
              <a:rPr sz="1400" b="0" i="0" dirty="0" err="1">
                <a:solidFill>
                  <a:srgbClr val="9AA3B0"/>
                </a:solidFill>
                <a:latin typeface="Segoe UI"/>
              </a:rPr>
              <a:t>unisolated</a:t>
            </a:r>
            <a:r>
              <a:rPr sz="1400" b="0" i="0" dirty="0">
                <a:solidFill>
                  <a:srgbClr val="9AA3B0"/>
                </a:solidFill>
                <a:latin typeface="Segoe UI"/>
              </a:rPr>
              <a:t> run from an existing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97880"/>
            <a:ext cx="10469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5F3EF"/>
                </a:solidFill>
                <a:latin typeface="Segoe UI"/>
              </a:rPr>
              <a:t>Ask when interactive · assume from documented defaults when autonomous · record everything in the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914</Words>
  <Application>Microsoft Office PowerPoint</Application>
  <PresentationFormat>Widescreen</PresentationFormat>
  <Paragraphs>102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Choi, Jeongmoon</cp:lastModifiedBy>
  <cp:revision>4</cp:revision>
  <dcterms:created xsi:type="dcterms:W3CDTF">2013-01-27T09:14:16Z</dcterms:created>
  <dcterms:modified xsi:type="dcterms:W3CDTF">2026-07-04T01:56:05Z</dcterms:modified>
  <cp:category/>
</cp:coreProperties>
</file>