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2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70094-222A-47E9-B884-13617CDFB4CB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6815D-689C-49F0-8144-2265AD859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03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(Developing Anvil) mermaid:</a:t>
            </a:r>
          </a:p>
          <a:p>
            <a:r>
              <a:t>flowchart TB</a:t>
            </a:r>
          </a:p>
          <a:p>
            <a:r>
              <a:t>  D["anvil-development/v0.1.1/docs/*.md\nproposal -&gt; spec -&gt; architecture -&gt; blueprint -&gt; plan"]</a:t>
            </a:r>
          </a:p>
          <a:p>
            <a:r>
              <a:t>  D -- implementation --&gt; R["runtime/ (engine)"]</a:t>
            </a:r>
          </a:p>
          <a:p>
            <a:r>
              <a:t>  R --&gt; core &amp; llm &amp; hooks &amp; events &amp; drift &amp; policy &amp; skills &amp; sdk &amp; artifacts &amp; state &amp; tools</a:t>
            </a:r>
          </a:p>
          <a:p>
            <a:endParaRPr/>
          </a:p>
          <a:p>
            <a:r>
              <a:t>RIGHT (Using Anvil) mermaid:</a:t>
            </a:r>
          </a:p>
          <a:p>
            <a:r>
              <a:t>flowchart TB</a:t>
            </a:r>
          </a:p>
          <a:p>
            <a:r>
              <a:t>  A["@anvil build &lt;prompt&gt;"] --&gt; B["runs/&lt;date&gt;-&lt;slug&gt;/domain-knowledge/background-information.md"]</a:t>
            </a:r>
          </a:p>
          <a:p>
            <a:r>
              <a:t>  B --&gt; C["12-phase pipeline (complexity-gated)\nGemma 4 planning / DeepSeek V4 coding"]</a:t>
            </a:r>
          </a:p>
          <a:p>
            <a:r>
              <a:t>  C --&gt; O["docs/ + src/ (+ tests/) + FR records + events.jsonl"]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Anvil v0.1.1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83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9D3DE"/>
                </a:solidFill>
                <a:latin typeface="Segoe UI"/>
              </a:rPr>
              <a:t>Fix release — how it works, architecture, and what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Supervisor-orchestrated coding factory  ·  OpenRouter + thin REST + VS Code @anvil  · 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How Anvil Works — Developing vs. Using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53328" y="1097280"/>
            <a:ext cx="19050" cy="5394960"/>
          </a:xfrm>
          <a:prstGeom prst="rect">
            <a:avLst/>
          </a:prstGeom>
          <a:solidFill>
            <a:srgbClr val="CC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394960" cy="457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DEVELOPING ANVIL  (build the engine)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480560" cy="105156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Segoe UI"/>
              </a:rPr>
              <a:t>anvil-development/v0.1.1/docs/*.md</a:t>
            </a:r>
          </a:p>
          <a:p>
            <a:pPr algn="ctr"/>
            <a:r>
              <a:rPr sz="1100" b="0">
                <a:solidFill>
                  <a:srgbClr val="1B2631"/>
                </a:solidFill>
                <a:latin typeface="Segoe UI"/>
              </a:rPr>
              <a:t>proposal → spec → architecture → blueprint → plan</a:t>
            </a:r>
          </a:p>
        </p:txBody>
      </p:sp>
      <p:sp>
        <p:nvSpPr>
          <p:cNvPr id="7" name="Down Arrow 6"/>
          <p:cNvSpPr/>
          <p:nvPr/>
        </p:nvSpPr>
        <p:spPr>
          <a:xfrm>
            <a:off x="2468880" y="2971800"/>
            <a:ext cx="1188720" cy="960122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Segoe UI"/>
              </a:rPr>
              <a:t>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4091940"/>
            <a:ext cx="502920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runtime/  — the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4686300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core (supervisor / DAG)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4288" y="4686300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llm (routing)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40" y="4686300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hooks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5189219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04288" y="5189219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drift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5189219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" y="5692139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4288" y="5692139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40" y="5692138"/>
            <a:ext cx="1581912" cy="411480"/>
          </a:xfrm>
          <a:prstGeom prst="round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143000"/>
            <a:ext cx="53949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USING ANVIL  (build a project for you)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874519"/>
            <a:ext cx="4663440" cy="8412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@anvil build "&lt;plain-English request&gt;"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869680" y="2734056"/>
            <a:ext cx="457200" cy="365760"/>
          </a:xfrm>
          <a:prstGeom prst="down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66560" y="3099815"/>
            <a:ext cx="4663440" cy="8412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100" b="0">
                <a:solidFill>
                  <a:srgbClr val="1B2631"/>
                </a:solidFill>
                <a:latin typeface="Segoe UI"/>
              </a:rPr>
              <a:t>runs/&lt;date&gt;-&lt;slug&gt;/domain-knowledge/</a:t>
            </a:r>
          </a:p>
          <a:p>
            <a:pPr algn="ctr"/>
            <a:r>
              <a:rPr sz="1100" b="0">
                <a:solidFill>
                  <a:srgbClr val="1B2631"/>
                </a:solidFill>
                <a:latin typeface="Segoe UI"/>
              </a:rPr>
              <a:t>background-information.md  (isolated)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69680" y="3959351"/>
            <a:ext cx="457200" cy="365760"/>
          </a:xfrm>
          <a:prstGeom prst="down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766560" y="4325112"/>
            <a:ext cx="4663440" cy="8412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100" b="0">
                <a:solidFill>
                  <a:srgbClr val="1B2631"/>
                </a:solidFill>
                <a:latin typeface="Segoe UI"/>
              </a:rPr>
              <a:t>12-phase pipeline  (complexity-gated)</a:t>
            </a:r>
          </a:p>
          <a:p>
            <a:pPr algn="ctr"/>
            <a:r>
              <a:rPr sz="1100" b="0">
                <a:solidFill>
                  <a:srgbClr val="1B2631"/>
                </a:solidFill>
                <a:latin typeface="Segoe UI"/>
              </a:rPr>
              <a:t>routing: Gemma 4 plan · DeepSeek V4 code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869680" y="5184648"/>
            <a:ext cx="457200" cy="365760"/>
          </a:xfrm>
          <a:prstGeom prst="down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766560" y="5550408"/>
            <a:ext cx="4663440" cy="8412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100" b="0">
                <a:solidFill>
                  <a:srgbClr val="1B2631"/>
                </a:solidFill>
                <a:latin typeface="Segoe UI"/>
              </a:rPr>
              <a:t>docs/ + src/ (+ tests/)  ·  FR records</a:t>
            </a:r>
          </a:p>
          <a:p>
            <a:pPr algn="ctr"/>
            <a:r>
              <a:rPr sz="1100" b="0">
                <a:solidFill>
                  <a:srgbClr val="1B2631"/>
                </a:solidFill>
                <a:latin typeface="Segoe UI"/>
              </a:rPr>
              <a:t>logs/events.jsonl (runId on all events)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Repository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4937760" cy="521208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CC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l"/>
            <a:r>
              <a:rPr sz="1150" b="1">
                <a:solidFill>
                  <a:srgbClr val="1F4E79"/>
                </a:solidFill>
                <a:latin typeface="Segoe UI"/>
              </a:rPr>
              <a:t>openhands_based_coding_team/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├─ anvil-development/      versioned self-development docs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│    v0.1.0/  v0.1.1/  (docs, domain-knowledge, logs)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├─ runtime/                Python engine (FastAPI)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│    anvil_runtime/ core llm hooks drift policy ...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├─ extension/              VS Code @anvil chat client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├─ runs/                   per-run output (gitignored)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├─ scripts/                start-anvil.ps1 launcher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├─ tests/                  unit · integration · e2e</a:t>
            </a:r>
          </a:p>
          <a:p>
            <a:pPr algn="l"/>
            <a:r>
              <a:rPr sz="1150" b="0">
                <a:solidFill>
                  <a:srgbClr val="1B2631"/>
                </a:solidFill>
                <a:latin typeface="Segoe UI"/>
              </a:rPr>
              <a:t>└─ .github/copilot-instructions.md   the workflow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32120" y="1188720"/>
          <a:ext cx="62636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Folder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anvil-development/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The recipe for building Anvil itself — versioned docs (proposal→plan) + implementation log.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runtime/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Anvil's brain: supervisor/DAG, phase agents, LLM routing, policy, hooks, events, drift, artifacts.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extension/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Thin VS Code client exposing the @anvil chat participant; calls the localhost runtime.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runs/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One isolated, disposable folder per build (docs/ src/ tests/ logs/ .anvil/). Gitignored.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scripts/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start-anvil.ps1 — launches the runtime server.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tests/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45+ test files: unit, integration, e2e.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.github/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631"/>
                          </a:solidFill>
                          <a:latin typeface="Segoe UI"/>
                        </a:rPr>
                        <a:t>copilot-instructions.md — the governing phase workflow + conventions.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Versioning &amp; Documentation —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Segoe UI"/>
              </a:rPr>
              <a:t>Each version's docs match the release type, so they stay concise without losing context.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7406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Release type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Doc style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Patch / fix  (v0.1.1)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DELTA — reference the previous version; only what changed (this release).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Minor / feature  (v0.2.0)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Proposal &amp; plan stay delta; spec &amp; architecture become self-contained snapshots (reset baseline).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Major  (v1.0.0)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Fully self-contained.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Per-doc rule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proposal &amp; plan = always delta; architecture trends to a living, current-state doc.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828800"/>
            <a:ext cx="3657600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08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v0.1.0  (baseline)</a:t>
            </a:r>
          </a:p>
          <a:p>
            <a:pPr algn="ctr"/>
            <a:r>
              <a:rPr sz="1100" b="0">
                <a:solidFill>
                  <a:srgbClr val="DDE6F0"/>
                </a:solidFill>
                <a:latin typeface="Segoe UI"/>
              </a:rPr>
              <a:t>full standalone docs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│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v0.1.1  (this release)</a:t>
            </a:r>
          </a:p>
          <a:p>
            <a:pPr algn="ctr"/>
            <a:r>
              <a:rPr sz="1100" b="0">
                <a:solidFill>
                  <a:srgbClr val="DDE6F0"/>
                </a:solidFill>
                <a:latin typeface="Segoe UI"/>
              </a:rPr>
              <a:t>delta docs → reference v0.1.0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Segoe UI"/>
              </a:rPr>
              <a:t>v0.1.1 delta covers only the changes: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1B2631"/>
                </a:solidFill>
                <a:latin typeface="Segoe UI"/>
              </a:rPr>
              <a:t>• proposal / spec / architecture / blueprint / plan each say "v0.1.0 is the baseline; here's what changes"</a:t>
            </a:r>
          </a:p>
          <a:p>
            <a:pPr algn="l"/>
            <a:r>
              <a:rPr sz="1200" b="0">
                <a:solidFill>
                  <a:srgbClr val="1B2631"/>
                </a:solidFill>
                <a:latin typeface="Segoe UI"/>
              </a:rPr>
              <a:t>• A plan is inherently a delta — you don't re-implement shipped slices</a:t>
            </a:r>
          </a:p>
          <a:p>
            <a:pPr algn="l"/>
            <a:r>
              <a:rPr sz="1200" b="0">
                <a:solidFill>
                  <a:srgbClr val="1B2631"/>
                </a:solidFill>
                <a:latin typeface="Segoe UI"/>
              </a:rPr>
              <a:t>• Convention recorded in .github/copilot-instructions.md so future versions follow it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What Shipped in v0.1.1 — Report → Fix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02253"/>
              </p:ext>
            </p:extLst>
          </p:nvPr>
        </p:nvGraphicFramePr>
        <p:xfrm>
          <a:off x="365760" y="1143000"/>
          <a:ext cx="11430000" cy="3683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Report (observed)</a:t>
                      </a:r>
                    </a:p>
                  </a:txBody>
                  <a:tcPr marL="76200" marR="76200" marT="38100" marB="38100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 marL="76200" marR="76200" marT="38100" marB="38100" anchor="ctr"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#</a:t>
                      </a:r>
                      <a:r>
                        <a:rPr lang="en-US" sz="1100" dirty="0">
                          <a:solidFill>
                            <a:srgbClr val="1B2631"/>
                          </a:solidFill>
                          <a:latin typeface="Segoe UI"/>
                        </a:rPr>
                        <a:t>1</a:t>
                      </a:r>
                      <a:endParaRPr sz="1100" dirty="0">
                        <a:solidFill>
                          <a:srgbClr val="1B2631"/>
                        </a:solidFill>
                        <a:latin typeface="Segoe UI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Prompt overridden by pre-existing workspace artifacts (FR-001)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Per-run isolated runs/&lt;date&gt;-&lt;slug&gt;/ — prompt is the sole input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#</a:t>
                      </a:r>
                      <a:r>
                        <a:rPr lang="en-US" sz="1100" dirty="0">
                          <a:solidFill>
                            <a:srgbClr val="1B2631"/>
                          </a:solidFill>
                          <a:latin typeface="Segoe UI"/>
                        </a:rPr>
                        <a:t>2</a:t>
                      </a:r>
                      <a:endParaRPr sz="1100" dirty="0">
                        <a:solidFill>
                          <a:srgbClr val="1B2631"/>
                        </a:solidFill>
                        <a:latin typeface="Segoe UI"/>
                      </a:endParaRP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Markdown repeats full body under every heading — ~3x tokens (FR-002)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1"/>
                          </a:solidFill>
                          <a:latin typeface="Segoe UI"/>
                        </a:rPr>
                        <a:t>Document writer emits body once; missing sections get placeholders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#</a:t>
                      </a:r>
                      <a:r>
                        <a:rPr lang="en-US" sz="1100" dirty="0">
                          <a:solidFill>
                            <a:srgbClr val="1B2631"/>
                          </a:solidFill>
                          <a:latin typeface="Segoe UI"/>
                        </a:rPr>
                        <a:t>3</a:t>
                      </a:r>
                      <a:endParaRPr sz="1100" dirty="0">
                        <a:solidFill>
                          <a:srgbClr val="1B2631"/>
                        </a:solidFill>
                        <a:latin typeface="Segoe UI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Auxiliary docs (</a:t>
                      </a:r>
                      <a:r>
                        <a:rPr sz="1100" dirty="0" err="1">
                          <a:solidFill>
                            <a:srgbClr val="1B2631"/>
                          </a:solidFill>
                          <a:latin typeface="Segoe UI"/>
                        </a:rPr>
                        <a:t>qa</a:t>
                      </a:r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/packaging/...) emitted even when not needed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Complexity-gated phases: simple → core, standard → +</a:t>
                      </a:r>
                      <a:r>
                        <a:rPr sz="1100" dirty="0" err="1">
                          <a:solidFill>
                            <a:srgbClr val="1B2631"/>
                          </a:solidFill>
                          <a:latin typeface="Segoe UI"/>
                        </a:rPr>
                        <a:t>qa</a:t>
                      </a:r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, complex → all 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#</a:t>
                      </a:r>
                      <a:r>
                        <a:rPr lang="en-US" sz="1100" dirty="0">
                          <a:solidFill>
                            <a:srgbClr val="1B2631"/>
                          </a:solidFill>
                          <a:latin typeface="Segoe UI"/>
                        </a:rPr>
                        <a:t>4</a:t>
                      </a:r>
                      <a:endParaRPr sz="1100" dirty="0">
                        <a:solidFill>
                          <a:srgbClr val="1B2631"/>
                        </a:solidFill>
                        <a:latin typeface="Segoe UI"/>
                      </a:endParaRP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Every phase used one model — </a:t>
                      </a:r>
                      <a:r>
                        <a:rPr sz="1100" dirty="0" err="1">
                          <a:solidFill>
                            <a:srgbClr val="1B2631"/>
                          </a:solidFill>
                          <a:latin typeface="Segoe UI"/>
                        </a:rPr>
                        <a:t>deepseek</a:t>
                      </a:r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-chat (FR-002)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Phase-aware routing: Gemma 4 (planning) / DeepSeek V4 (coding)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1B2631"/>
                          </a:solidFill>
                          <a:latin typeface="Segoe UI"/>
                        </a:rPr>
                        <a:t>#5</a:t>
                      </a:r>
                      <a:endParaRPr sz="1100" dirty="0">
                        <a:solidFill>
                          <a:srgbClr val="1B2631"/>
                        </a:solidFill>
                        <a:latin typeface="Segoe UI"/>
                      </a:endParaRP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No record of failures; no usable run command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Feature: auto FR failure records per failure (docs/</a:t>
                      </a:r>
                      <a:r>
                        <a:rPr sz="1100" dirty="0" err="1">
                          <a:solidFill>
                            <a:srgbClr val="1B2631"/>
                          </a:solidFill>
                          <a:latin typeface="Segoe UI"/>
                        </a:rPr>
                        <a:t>failure_records</a:t>
                      </a:r>
                      <a:r>
                        <a:rPr sz="1100" dirty="0">
                          <a:solidFill>
                            <a:srgbClr val="1B2631"/>
                          </a:solidFill>
                          <a:latin typeface="Segoe UI"/>
                        </a:rPr>
                        <a:t>/)</a:t>
                      </a:r>
                    </a:p>
                  </a:txBody>
                  <a:tcPr marL="76200" marR="76200" marT="38100" marB="381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817</Words>
  <Application>Microsoft Office PowerPoint</Application>
  <PresentationFormat>와이드스크린</PresentationFormat>
  <Paragraphs>104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Choi, Jeongmoon</cp:lastModifiedBy>
  <cp:revision>3</cp:revision>
  <dcterms:created xsi:type="dcterms:W3CDTF">2013-01-27T09:14:16Z</dcterms:created>
  <dcterms:modified xsi:type="dcterms:W3CDTF">2026-06-27T00:55:25Z</dcterms:modified>
  <cp:category/>
</cp:coreProperties>
</file>